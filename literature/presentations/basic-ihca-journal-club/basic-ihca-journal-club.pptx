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6_1.xml" ContentType="application/vnd.openxmlformats-officedocument.drawingml.chart+xml"/>
  <Override PartName="/ppt/charts/chart8_1.xml" ContentType="application/vnd.openxmlformats-officedocument.drawingml.chart+xml"/>
  <Override PartName="/ppt/charts/chart9_1.xml" ContentType="application/vnd.openxmlformats-officedocument.drawingml.chart+xml"/>
  <Override PartName="/ppt/charts/chart10_1.xml" ContentType="application/vnd.openxmlformats-officedocument.drawingml.chart+xml"/>
  <Override PartName="/ppt/charts/chart11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charts/_rels/chart6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6_1.xlsx"/></Relationships>
</file>

<file path=ppt/charts/_rels/chart8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8_1.xlsx"/></Relationships>
</file>

<file path=ppt/charts/_rels/chart9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9_1.xlsx"/></Relationships>
</file>

<file path=ppt/charts/_rels/chart10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0_1.xlsx"/></Relationships>
</file>

<file path=ppt/charts/_rels/chart11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1_1.xlsx"/></Relationships>
</file>

<file path=ppt/charts/chart6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684765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重症监护室 ICU</c:v>
                </c:pt>
                <c:pt idx="1">
                  <c:v>普通病房</c:v>
                </c:pt>
                <c:pt idx="2">
                  <c:v>急诊科</c:v>
                </c:pt>
                <c:pt idx="3">
                  <c:v>门诊区域</c:v>
                </c:pt>
                <c:pt idx="4">
                  <c:v>心导管室</c:v>
                </c:pt>
                <c:pt idx="5">
                  <c:v>手术室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40.2</c:v>
                </c:pt>
                <c:pt idx="1">
                  <c:v>32.9</c:v>
                </c:pt>
                <c:pt idx="2">
                  <c:v>21.7</c:v>
                </c:pt>
                <c:pt idx="3">
                  <c:v>2.2</c:v>
                </c:pt>
                <c:pt idx="4">
                  <c:v>1.5</c:v>
                </c:pt>
                <c:pt idx="5">
                  <c:v>1.3</c:v>
                </c:pt>
              </c:numCache>
            </c:numRef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9B9489"/>
            </a:solidFill>
          </a:ln>
        </c:spPr>
        <c:txPr>
          <a:bodyPr/>
          <a:lstStyle/>
          <a:p>
            <a:pPr>
              <a:defRPr sz="95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50"/>
          <c:min val="0"/>
        </c:scaling>
        <c:delete val="0"/>
        <c:axPos val="l"/>
        <c:majorGridlines>
          <c:spPr>
            <a:ln w="6350">
              <a:solidFill>
                <a:srgbClr val="D8CFC0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noProof="1" b="0" i="0" u="none" strike="noStrike"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8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比例</c:v>
                </c:pt>
              </c:strCache>
            </c:strRef>
          </c:tx>
          <c:spPr>
            <a:solidFill>
              <a:srgbClr val="684765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按压/除颤启动 &lt;1 min</c:v>
                </c:pt>
                <c:pt idx="1">
                  <c:v>可电击心律 首次除颤 ≤2 min</c:v>
                </c:pt>
                <c:pt idx="2">
                  <c:v>不可电击心律 首剂肾上腺素 ≤5 min</c:v>
                </c:pt>
                <c:pt idx="3">
                  <c:v>肾上腺素使用（全体）</c:v>
                </c:pt>
                <c:pt idx="4">
                  <c:v>急诊气管插管</c:v>
                </c:pt>
                <c:pt idx="5">
                  <c:v>机械按压装置</c:v>
                </c:pt>
                <c:pt idx="6">
                  <c:v>ECPR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95.9</c:v>
                </c:pt>
                <c:pt idx="1">
                  <c:v>71.4</c:v>
                </c:pt>
                <c:pt idx="2">
                  <c:v>84.4</c:v>
                </c:pt>
                <c:pt idx="3">
                  <c:v>86.7</c:v>
                </c:pt>
                <c:pt idx="4">
                  <c:v>38.3</c:v>
                </c:pt>
                <c:pt idx="5">
                  <c:v>5.6</c:v>
                </c:pt>
                <c:pt idx="6">
                  <c:v>0.3</c:v>
                </c:pt>
              </c:numCache>
            </c:numRef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9B9489"/>
            </a:solidFill>
          </a:ln>
        </c:spPr>
        <c:txPr>
          <a:bodyPr/>
          <a:lstStyle/>
          <a:p>
            <a:pPr>
              <a:defRPr sz="95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D8CFC0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noProof="1" b="0" i="0" u="none" strike="noStrike"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9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</c:v>
                </c:pt>
              </c:strCache>
            </c:strRef>
          </c:tx>
          <c:spPr>
            <a:solidFill>
              <a:srgbClr val="C9828B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温度控制（含 TTM）</c:v>
                </c:pt>
                <c:pt idx="1">
                  <c:v>目标温度管理 TTM</c:v>
                </c:pt>
                <c:pt idx="2">
                  <c:v>冠状动脉造影</c:v>
                </c:pt>
                <c:pt idx="3">
                  <c:v>经皮冠脉介入 PCI</c:v>
                </c:pt>
                <c:pt idx="4">
                  <c:v>溶栓治疗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0.8</c:v>
                </c:pt>
                <c:pt idx="2">
                  <c:v>5.2</c:v>
                </c:pt>
                <c:pt idx="3">
                  <c:v>4.3</c:v>
                </c:pt>
                <c:pt idx="4">
                  <c:v>0.5</c:v>
                </c:pt>
              </c:numCache>
            </c:numRef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9B9489"/>
            </a:solidFill>
          </a:ln>
        </c:spPr>
        <c:txPr>
          <a:bodyPr/>
          <a:lstStyle/>
          <a:p>
            <a:pPr>
              <a:defRPr sz="95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0"/>
          <c:min val="0"/>
        </c:scaling>
        <c:delete val="0"/>
        <c:axPos val="l"/>
        <c:majorGridlines>
          <c:spPr>
            <a:ln w="6350">
              <a:solidFill>
                <a:srgbClr val="D8CFC0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noProof="1" b="0" i="0" u="none" strike="noStrike"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10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比例</c:v>
                </c:pt>
              </c:strCache>
            </c:strRef>
          </c:tx>
          <c:spPr>
            <a:solidFill>
              <a:srgbClr val="684765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任何 ROSC</c:v>
                </c:pt>
                <c:pt idx="1">
                  <c:v>持续 ROSC（≥20 min）</c:v>
                </c:pt>
                <c:pt idx="2">
                  <c:v>30 天存活 / 出院</c:v>
                </c:pt>
                <c:pt idx="3">
                  <c:v>神经功能良好（CPC 1–2）</c:v>
                </c:pt>
                <c:pt idx="4">
                  <c:v>12 个月存活</c:v>
                </c:pt>
                <c:pt idx="5">
                  <c:v>12 个月神经功能良好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40.9</c:v>
                </c:pt>
                <c:pt idx="1">
                  <c:v>35.2</c:v>
                </c:pt>
                <c:pt idx="2">
                  <c:v>9.1</c:v>
                </c:pt>
                <c:pt idx="3">
                  <c:v>7.1</c:v>
                </c:pt>
                <c:pt idx="4">
                  <c:v>6.1</c:v>
                </c:pt>
                <c:pt idx="5">
                  <c:v>5.6</c:v>
                </c:pt>
              </c:numCache>
            </c:numRef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9B9489"/>
            </a:solidFill>
          </a:ln>
        </c:spPr>
        <c:txPr>
          <a:bodyPr/>
          <a:lstStyle/>
          <a:p>
            <a:pPr>
              <a:defRPr sz="95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50"/>
          <c:min val="0"/>
        </c:scaling>
        <c:delete val="0"/>
        <c:axPos val="l"/>
        <c:majorGridlines>
          <c:spPr>
            <a:ln w="6350">
              <a:solidFill>
                <a:srgbClr val="D8CFC0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noProof="1" b="0" i="0" u="none" strike="noStrike"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11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可电击心律（VF/pVT）</c:v>
                </c:pt>
              </c:strCache>
            </c:strRef>
          </c:tx>
          <c:spPr>
            <a:solidFill>
              <a:srgbClr val="684765"/>
            </a:solidFill>
          </c:spPr>
          <c:cat>
            <c:strRef>
              <c:f>Sheet1!$A$2:$A$5</c:f>
              <c:strCache>
                <c:ptCount val="4"/>
                <c:pt idx="0">
                  <c:v>持续 ROSC</c:v>
                </c:pt>
                <c:pt idx="1">
                  <c:v>30 天存活/出院</c:v>
                </c:pt>
                <c:pt idx="2">
                  <c:v>神经功能良好</c:v>
                </c:pt>
                <c:pt idx="3">
                  <c:v>12 个月存活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63.2</c:v>
                </c:pt>
                <c:pt idx="1">
                  <c:v>34</c:v>
                </c:pt>
                <c:pt idx="2">
                  <c:v>30.9</c:v>
                </c:pt>
                <c:pt idx="3">
                  <c:v>25.9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不可电击心律（心搏停止/PEA）</c:v>
                </c:pt>
              </c:strCache>
            </c:strRef>
          </c:tx>
          <c:spPr>
            <a:solidFill>
              <a:srgbClr val="C9828B"/>
            </a:solidFill>
          </c:spPr>
          <c:cat>
            <c:strRef>
              <c:f>Sheet1!$A$2:$A$5</c:f>
              <c:strCache>
                <c:ptCount val="4"/>
                <c:pt idx="0">
                  <c:v>持续 ROSC</c:v>
                </c:pt>
                <c:pt idx="1">
                  <c:v>30 天存活/出院</c:v>
                </c:pt>
                <c:pt idx="2">
                  <c:v>神经功能良好</c:v>
                </c:pt>
                <c:pt idx="3">
                  <c:v>12 个月存活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30.9</c:v>
                </c:pt>
                <c:pt idx="1">
                  <c:v>5.3</c:v>
                </c:pt>
                <c:pt idx="2">
                  <c:v>3.3</c:v>
                </c:pt>
                <c:pt idx="3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 noProof="1" b="0" i="0" u="none" strike="noStrike">
                  <a:latin typeface="Arial"/>
                </a:defRPr>
              </a:pPr>
              <a:endParaRPr lang="en-US" noProof="1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9B9489"/>
            </a:solidFill>
          </a:ln>
        </c:spPr>
        <c:txPr>
          <a:bodyPr/>
          <a:lstStyle/>
          <a:p>
            <a:pPr>
              <a:defRPr sz="90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70"/>
          <c:min val="0"/>
        </c:scaling>
        <c:delete val="0"/>
        <c:axPos val="l"/>
        <c:majorGridlines>
          <c:spPr>
            <a:ln w="6350">
              <a:solidFill>
                <a:srgbClr val="D8CFC0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noProof="1" b="0" i="0" u="none" strike="noStrike"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50" noProof="1" b="0" i="0" u="none" strike="noStrike">
              <a:latin typeface="Arial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_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_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9_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_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_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atch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3" name="swatch-deep"/>
          <p:cNvSpPr/>
          <p:nvPr/>
        </p:nvSpPr>
        <p:spPr>
          <a:xfrm>
            <a:off x="0" y="5461000"/>
            <a:ext cx="3810000" cy="1397000"/>
          </a:xfrm>
          <a:prstGeom prst="rect">
            <a:avLst/>
          </a:prstGeom>
          <a:solidFill>
            <a:srgbClr val="4A3448"/>
          </a:solidFill>
          <a:ln>
            <a:noFill/>
          </a:ln>
        </p:spPr>
      </p:sp>
      <p:sp>
        <p:nvSpPr>
          <p:cNvPr id="4" name="ecg-line"/>
          <p:cNvSpPr/>
          <p:nvPr>
            <p:extLst>
              <p:ext uri="{F5677B7D-0D2A-4D9B-9A5C-6D8D7D0E5A5D}">
                <pptd:line encoding="base64url">eyJ2aWV3Qm94IjpbMjQwLDYwXSwicG9pbnRzIjoiMCwzMCA2MCwzMCA3MiwzMCA4MCw2IDg4LDU0IDk2LDMwIDEzMCwzMCAxNDIsMTQgMTU0LDMwIDI0MCwzMCIsImN1cnZlIjoic2hhcnAifQ</pptd:line>
              </p:ext>
            </p:extLst>
          </p:nvPr>
        </p:nvSpPr>
        <p:spPr>
          <a:xfrm>
            <a:off x="381000" y="2667000"/>
            <a:ext cx="3048000" cy="762000"/>
          </a:xfrm>
          <a:custGeom>
            <a:avLst/>
            <a:gdLst/>
            <a:ahLst/>
            <a:cxnLst/>
            <a:rect l="l" t="t" r="r" b="b"/>
            <a:pathLst>
              <a:path w="240" h="60">
                <a:moveTo>
                  <a:pt x="0" y="30"/>
                </a:moveTo>
                <a:lnTo>
                  <a:pt x="60" y="30"/>
                </a:lnTo>
                <a:lnTo>
                  <a:pt x="72" y="30"/>
                </a:lnTo>
                <a:lnTo>
                  <a:pt x="80" y="6"/>
                </a:lnTo>
                <a:lnTo>
                  <a:pt x="88" y="54"/>
                </a:lnTo>
                <a:lnTo>
                  <a:pt x="96" y="30"/>
                </a:lnTo>
                <a:lnTo>
                  <a:pt x="130" y="30"/>
                </a:lnTo>
                <a:lnTo>
                  <a:pt x="142" y="14"/>
                </a:lnTo>
                <a:lnTo>
                  <a:pt x="154" y="30"/>
                </a:lnTo>
                <a:lnTo>
                  <a:pt x="240" y="30"/>
                </a:lnTo>
              </a:path>
            </a:pathLst>
          </a:custGeom>
          <a:noFill/>
          <a:ln w="25400">
            <a:solidFill>
              <a:srgbClr val="F7F3E8">
                <a:alpha val="80000"/>
              </a:srgbClr>
            </a:solidFill>
          </a:ln>
        </p:spPr>
      </p:sp>
      <p:sp>
        <p:nvSpPr>
          <p:cNvPr id="5" name="cover-kicker"/>
          <p:cNvSpPr txBox="1"/>
          <p:nvPr/>
        </p:nvSpPr>
        <p:spPr>
          <a:xfrm>
            <a:off x="381000" y="15240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F7F3E8"/>
                </a:solidFill>
                <a:latin typeface="MiSans"/>
                <a:ea typeface="MiSans"/>
              </a:rPr>
              <a:t>文献分享 · JOURNAL CLUB</a:t>
            </a:r>
            <a:endParaRPr lang="en-US" sz="1100" noProof="1"/>
          </a:p>
        </p:txBody>
      </p:sp>
      <p:sp>
        <p:nvSpPr>
          <p:cNvPr id="6" name="cover-journal"/>
          <p:cNvSpPr txBox="1"/>
          <p:nvPr/>
        </p:nvSpPr>
        <p:spPr>
          <a:xfrm>
            <a:off x="381000" y="3810000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F7F3E8"/>
                </a:solidFill>
                <a:latin typeface="MiSans"/>
                <a:ea typeface="MiSans"/>
              </a:rPr>
              <a:t>Circulation</a:t>
            </a:r>
            <a:r>
              <a:rPr lang="en-US" sz="1200" noProof="1">
                <a:solidFill>
                  <a:srgbClr val="F7F3E8"/>
                </a:solidFill>
                <a:latin typeface="MiSans"/>
                <a:ea typeface="MiSans"/>
              </a:rPr>
              <a:t> · 2026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7F3E8"/>
                </a:solidFill>
                <a:latin typeface="MiSans"/>
                <a:ea typeface="MiSans"/>
              </a:rPr>
              <a:t>Original Research Article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F7F3E8">
                    <a:alpha val="70196"/>
                  </a:srgbClr>
                </a:solidFill>
                <a:latin typeface="MiSans"/>
                <a:ea typeface="MiSans"/>
              </a:rPr>
              <a:t>DOI: 10.1161/CIRCULATIONAHA.126.080404</a:t>
            </a:r>
            <a:endParaRPr lang="en-US" sz="1200" noProof="1"/>
          </a:p>
        </p:txBody>
      </p:sp>
      <p:sp>
        <p:nvSpPr>
          <p:cNvPr id="7" name="title"/>
          <p:cNvSpPr txBox="1"/>
          <p:nvPr/>
        </p:nvSpPr>
        <p:spPr>
          <a:xfrm>
            <a:off x="4381500" y="1651000"/>
            <a:ext cx="723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3200" noProof="1" b="1">
                <a:solidFill>
                  <a:srgbClr val="27231F"/>
                </a:solidFill>
                <a:latin typeface="MiSans"/>
                <a:ea typeface="MiSans"/>
              </a:rPr>
              <a:t>中国院内心脏骤停的</a:t>
            </a:r>
            <a:endParaRPr lang="en-US" sz="3200" noProof="1"/>
          </a:p>
          <a:p>
            <a:pPr>
              <a:lnSpc>
                <a:spcPct val="135000"/>
              </a:lnSpc>
            </a:pPr>
            <a:r>
              <a:rPr lang="en-US" sz="3200" noProof="1" b="1">
                <a:solidFill>
                  <a:srgbClr val="27231F"/>
                </a:solidFill>
                <a:latin typeface="MiSans"/>
                <a:ea typeface="MiSans"/>
              </a:rPr>
              <a:t>发病率、救治流程与预后</a:t>
            </a:r>
            <a:endParaRPr lang="en-US" sz="3200" noProof="1"/>
          </a:p>
        </p:txBody>
      </p:sp>
      <p:sp>
        <p:nvSpPr>
          <p:cNvPr id="8" name="subtitle-en"/>
          <p:cNvSpPr txBox="1"/>
          <p:nvPr/>
        </p:nvSpPr>
        <p:spPr>
          <a:xfrm>
            <a:off x="4381500" y="3454400"/>
            <a:ext cx="723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i="1">
                <a:solidFill>
                  <a:srgbClr val="684765"/>
                </a:solidFill>
                <a:latin typeface="MiSans"/>
                <a:ea typeface="MiSans"/>
              </a:rPr>
              <a:t>Incidence, Process of Care, and Outcomes of In-Hospital Cardiac Arrest in China: A Multicenter Prospective Registry Study</a:t>
            </a:r>
            <a:endParaRPr lang="en-US" sz="1250" noProof="1"/>
          </a:p>
        </p:txBody>
      </p:sp>
      <p:sp>
        <p:nvSpPr>
          <p:cNvPr id="9" name="subtitle-cn"/>
          <p:cNvSpPr txBox="1"/>
          <p:nvPr/>
        </p:nvSpPr>
        <p:spPr>
          <a:xfrm>
            <a:off x="4381500" y="4191000"/>
            <a:ext cx="723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9B9489"/>
                </a:solidFill>
                <a:latin typeface="MiSans"/>
                <a:ea typeface="MiSans"/>
              </a:rPr>
              <a:t>BASIC-IHCA 多中心前瞻性注册研究解读</a:t>
            </a:r>
            <a:endParaRPr lang="en-US" sz="1400" noProof="1"/>
          </a:p>
        </p:txBody>
      </p:sp>
      <p:sp>
        <p:nvSpPr>
          <p:cNvPr id="10" name="rule"/>
          <p:cNvSpPr/>
          <p:nvPr/>
        </p:nvSpPr>
        <p:spPr>
          <a:xfrm>
            <a:off x="4381500" y="4800600"/>
            <a:ext cx="762000" cy="38100"/>
          </a:xfrm>
          <a:prstGeom prst="rect">
            <a:avLst/>
          </a:prstGeom>
          <a:solidFill>
            <a:srgbClr val="C9828B"/>
          </a:solidFill>
          <a:ln>
            <a:noFill/>
          </a:ln>
        </p:spPr>
      </p:sp>
      <p:sp>
        <p:nvSpPr>
          <p:cNvPr id="11" name="meta"/>
          <p:cNvSpPr txBox="1"/>
          <p:nvPr/>
        </p:nvSpPr>
        <p:spPr>
          <a:xfrm>
            <a:off x="4381500" y="50800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汇报人：____________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科室：重症医学科　　日期：2026 年 10 月</a:t>
            </a:r>
            <a:endParaRPr lang="en-US" sz="1200" noProof="1"/>
          </a:p>
        </p:txBody>
      </p:sp>
      <p:sp>
        <p:nvSpPr>
          <p:cNvPr id="12" name="citation"/>
          <p:cNvSpPr txBox="1"/>
          <p:nvPr/>
        </p:nvSpPr>
        <p:spPr>
          <a:xfrm>
            <a:off x="4381500" y="6350000"/>
            <a:ext cx="723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Wang C, Zheng J, Zheng W, Yang K, et al; BASIC-IHCA Coordinators and Investigators. Circulation. 2026.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title"/>
          <p:cNvSpPr txBox="1"/>
          <p:nvPr/>
        </p:nvSpPr>
        <p:spPr>
          <a:xfrm>
            <a:off x="762000" y="762000"/>
            <a:ext cx="381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27231F"/>
                </a:solidFill>
                <a:latin typeface="MiSans"/>
                <a:ea typeface="MiSans"/>
              </a:rPr>
              <a:t>目录</a:t>
            </a:r>
            <a:endParaRPr lang="en-US" sz="3000" noProof="1"/>
          </a:p>
        </p:txBody>
      </p:sp>
      <p:sp>
        <p:nvSpPr>
          <p:cNvPr id="3" name="toc-title-en"/>
          <p:cNvSpPr txBox="1"/>
          <p:nvPr/>
        </p:nvSpPr>
        <p:spPr>
          <a:xfrm>
            <a:off x="762000" y="1422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300" kern="0">
                <a:solidFill>
                  <a:srgbClr val="9B9489"/>
                </a:solidFill>
                <a:latin typeface="MiSans"/>
                <a:ea typeface="MiSans"/>
              </a:rPr>
              <a:t>CONTENTS</a:t>
            </a:r>
            <a:endParaRPr lang="en-US" sz="1000" noProof="1"/>
          </a:p>
        </p:txBody>
      </p:sp>
      <p:sp>
        <p:nvSpPr>
          <p:cNvPr id="4" name="toc-rule"/>
          <p:cNvSpPr/>
          <p:nvPr/>
        </p:nvSpPr>
        <p:spPr>
          <a:xfrm>
            <a:off x="762000" y="18796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5" name="toc-n1"/>
          <p:cNvSpPr txBox="1"/>
          <p:nvPr/>
        </p:nvSpPr>
        <p:spPr>
          <a:xfrm>
            <a:off x="762000" y="22225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84765"/>
                </a:solidFill>
                <a:latin typeface="MiSans"/>
                <a:ea typeface="MiSans"/>
              </a:rPr>
              <a:t>01</a:t>
            </a:r>
            <a:endParaRPr lang="en-US" sz="3000" noProof="1"/>
          </a:p>
        </p:txBody>
      </p:sp>
      <p:sp>
        <p:nvSpPr>
          <p:cNvPr id="6" name="toc-t1"/>
          <p:cNvSpPr txBox="1"/>
          <p:nvPr/>
        </p:nvSpPr>
        <p:spPr>
          <a:xfrm>
            <a:off x="1905000" y="21844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noProof="1" b="1">
                <a:solidFill>
                  <a:srgbClr val="27231F"/>
                </a:solidFill>
                <a:latin typeface="MiSans"/>
                <a:ea typeface="MiSans"/>
              </a:rPr>
              <a:t>研究背景与设计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100" noProof="1" b="1">
                <a:solidFill>
                  <a:srgbClr val="9B9489"/>
                </a:solidFill>
                <a:latin typeface="MiSans"/>
                <a:ea typeface="MiSans"/>
              </a:rPr>
              <a:t>疾病负担与证据缺口 · BASIC-IHCA 设计 · 研究人群</a:t>
            </a:r>
            <a:endParaRPr lang="en-US" sz="1600" noProof="1"/>
          </a:p>
        </p:txBody>
      </p:sp>
      <p:sp>
        <p:nvSpPr>
          <p:cNvPr id="7" name="toc-p1"/>
          <p:cNvSpPr txBox="1"/>
          <p:nvPr/>
        </p:nvSpPr>
        <p:spPr>
          <a:xfrm>
            <a:off x="10160000" y="24130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B9489"/>
                </a:solidFill>
                <a:latin typeface="MiSans"/>
                <a:ea typeface="MiSans"/>
              </a:rPr>
              <a:t>P. 04–06</a:t>
            </a:r>
            <a:endParaRPr lang="en-US" sz="1000" noProof="1"/>
          </a:p>
        </p:txBody>
      </p:sp>
      <p:sp>
        <p:nvSpPr>
          <p:cNvPr id="8" name="toc-n2"/>
          <p:cNvSpPr txBox="1"/>
          <p:nvPr/>
        </p:nvSpPr>
        <p:spPr>
          <a:xfrm>
            <a:off x="762000" y="33020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84765"/>
                </a:solidFill>
                <a:latin typeface="MiSans"/>
                <a:ea typeface="MiSans"/>
              </a:rPr>
              <a:t>02</a:t>
            </a:r>
            <a:endParaRPr lang="en-US" sz="3000" noProof="1"/>
          </a:p>
        </p:txBody>
      </p:sp>
      <p:sp>
        <p:nvSpPr>
          <p:cNvPr id="9" name="toc-t2"/>
          <p:cNvSpPr txBox="1"/>
          <p:nvPr/>
        </p:nvSpPr>
        <p:spPr>
          <a:xfrm>
            <a:off x="1905000" y="32639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noProof="1" b="1">
                <a:solidFill>
                  <a:srgbClr val="27231F"/>
                </a:solidFill>
                <a:latin typeface="MiSans"/>
                <a:ea typeface="MiSans"/>
              </a:rPr>
              <a:t>研究结果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100" noProof="1" b="1">
                <a:solidFill>
                  <a:srgbClr val="9B9489"/>
                </a:solidFill>
                <a:latin typeface="MiSans"/>
                <a:ea typeface="MiSans"/>
              </a:rPr>
              <a:t>复苏期流程 · 复苏后救治 · 临床结局 · 影响因素与亚组</a:t>
            </a:r>
            <a:endParaRPr lang="en-US" sz="1600" noProof="1"/>
          </a:p>
        </p:txBody>
      </p:sp>
      <p:sp>
        <p:nvSpPr>
          <p:cNvPr id="10" name="toc-p2"/>
          <p:cNvSpPr txBox="1"/>
          <p:nvPr/>
        </p:nvSpPr>
        <p:spPr>
          <a:xfrm>
            <a:off x="10160000" y="34925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B9489"/>
                </a:solidFill>
                <a:latin typeface="MiSans"/>
                <a:ea typeface="MiSans"/>
              </a:rPr>
              <a:t>P. 08–13</a:t>
            </a:r>
            <a:endParaRPr lang="en-US" sz="1000" noProof="1"/>
          </a:p>
        </p:txBody>
      </p:sp>
      <p:sp>
        <p:nvSpPr>
          <p:cNvPr id="11" name="toc-n3"/>
          <p:cNvSpPr txBox="1"/>
          <p:nvPr/>
        </p:nvSpPr>
        <p:spPr>
          <a:xfrm>
            <a:off x="762000" y="43815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84765"/>
                </a:solidFill>
                <a:latin typeface="MiSans"/>
                <a:ea typeface="MiSans"/>
              </a:rPr>
              <a:t>03</a:t>
            </a:r>
            <a:endParaRPr lang="en-US" sz="3000" noProof="1"/>
          </a:p>
        </p:txBody>
      </p:sp>
      <p:sp>
        <p:nvSpPr>
          <p:cNvPr id="12" name="toc-t3"/>
          <p:cNvSpPr txBox="1"/>
          <p:nvPr/>
        </p:nvSpPr>
        <p:spPr>
          <a:xfrm>
            <a:off x="1905000" y="4343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noProof="1" b="1">
                <a:solidFill>
                  <a:srgbClr val="27231F"/>
                </a:solidFill>
                <a:latin typeface="MiSans"/>
                <a:ea typeface="MiSans"/>
              </a:rPr>
              <a:t>难点知识解析（知识库补充）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100" noProof="1" b="1">
                <a:solidFill>
                  <a:srgbClr val="9B9489"/>
                </a:solidFill>
                <a:latin typeface="MiSans"/>
                <a:ea typeface="MiSans"/>
              </a:rPr>
              <a:t>核心定义 · 复苏期技术 · PCAS 与 TTM · 神经预后与 ECPR · RRT 与 DNACPR</a:t>
            </a:r>
            <a:endParaRPr lang="en-US" sz="1600" noProof="1"/>
          </a:p>
        </p:txBody>
      </p:sp>
      <p:sp>
        <p:nvSpPr>
          <p:cNvPr id="13" name="toc-p3"/>
          <p:cNvSpPr txBox="1"/>
          <p:nvPr/>
        </p:nvSpPr>
        <p:spPr>
          <a:xfrm>
            <a:off x="10160000" y="45720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B9489"/>
                </a:solidFill>
                <a:latin typeface="MiSans"/>
                <a:ea typeface="MiSans"/>
              </a:rPr>
              <a:t>P. 15–19</a:t>
            </a:r>
            <a:endParaRPr lang="en-US" sz="1000" noProof="1"/>
          </a:p>
        </p:txBody>
      </p:sp>
      <p:sp>
        <p:nvSpPr>
          <p:cNvPr id="14" name="toc-n4"/>
          <p:cNvSpPr txBox="1"/>
          <p:nvPr/>
        </p:nvSpPr>
        <p:spPr>
          <a:xfrm>
            <a:off x="762000" y="54610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684765"/>
                </a:solidFill>
                <a:latin typeface="MiSans"/>
                <a:ea typeface="MiSans"/>
              </a:rPr>
              <a:t>04</a:t>
            </a:r>
            <a:endParaRPr lang="en-US" sz="3000" noProof="1"/>
          </a:p>
        </p:txBody>
      </p:sp>
      <p:sp>
        <p:nvSpPr>
          <p:cNvPr id="15" name="toc-t4"/>
          <p:cNvSpPr txBox="1"/>
          <p:nvPr/>
        </p:nvSpPr>
        <p:spPr>
          <a:xfrm>
            <a:off x="1905000" y="54229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600" noProof="1" b="1">
                <a:solidFill>
                  <a:srgbClr val="27231F"/>
                </a:solidFill>
                <a:latin typeface="MiSans"/>
                <a:ea typeface="MiSans"/>
              </a:rPr>
              <a:t>讨论与启示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1100" noProof="1" b="1">
                <a:solidFill>
                  <a:srgbClr val="9B9489"/>
                </a:solidFill>
                <a:latin typeface="MiSans"/>
                <a:ea typeface="MiSans"/>
              </a:rPr>
              <a:t>主要结论 · 局限性 · 对 ICU 实践的启示 · 参考文献</a:t>
            </a:r>
            <a:endParaRPr lang="en-US" sz="1600" noProof="1"/>
          </a:p>
        </p:txBody>
      </p:sp>
      <p:sp>
        <p:nvSpPr>
          <p:cNvPr id="16" name="toc-p4"/>
          <p:cNvSpPr txBox="1"/>
          <p:nvPr/>
        </p:nvSpPr>
        <p:spPr>
          <a:xfrm>
            <a:off x="10160000" y="56515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B9489"/>
                </a:solidFill>
                <a:latin typeface="MiSans"/>
                <a:ea typeface="MiSans"/>
              </a:rPr>
              <a:t>P. 21–25</a:t>
            </a:r>
            <a:endParaRPr lang="en-US" sz="1000" noProof="1"/>
          </a:p>
        </p:txBody>
      </p:sp>
      <p:sp>
        <p:nvSpPr>
          <p:cNvPr id="17" name="pagenum"/>
          <p:cNvSpPr txBox="1"/>
          <p:nvPr/>
        </p:nvSpPr>
        <p:spPr>
          <a:xfrm>
            <a:off x="10541000" y="6477000"/>
            <a:ext cx="889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02 / 25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684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762000" y="1524000"/>
            <a:ext cx="254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400" noProof="1" b="1">
                <a:solidFill>
                  <a:srgbClr val="F7F3E8"/>
                </a:solidFill>
                <a:latin typeface="MiSans"/>
                <a:ea typeface="MiSans"/>
              </a:rPr>
              <a:t>01</a:t>
            </a:r>
            <a:endParaRPr lang="en-US" sz="6400" noProof="1"/>
          </a:p>
        </p:txBody>
      </p:sp>
      <p:sp>
        <p:nvSpPr>
          <p:cNvPr id="3" name="tick"/>
          <p:cNvSpPr/>
          <p:nvPr/>
        </p:nvSpPr>
        <p:spPr>
          <a:xfrm>
            <a:off x="762000" y="2844800"/>
            <a:ext cx="762000" cy="50800"/>
          </a:xfrm>
          <a:prstGeom prst="rect">
            <a:avLst/>
          </a:prstGeom>
          <a:solidFill>
            <a:srgbClr val="C9828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62000" y="3175000"/>
            <a:ext cx="889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F7F3E8"/>
                </a:solidFill>
                <a:latin typeface="MiSans"/>
                <a:ea typeface="MiSans"/>
              </a:rPr>
              <a:t>研究背景与设计</a:t>
            </a:r>
            <a:endParaRPr lang="en-US" sz="3000" noProof="1"/>
          </a:p>
        </p:txBody>
      </p:sp>
      <p:sp>
        <p:nvSpPr>
          <p:cNvPr id="5" name="desc"/>
          <p:cNvSpPr txBox="1"/>
          <p:nvPr/>
        </p:nvSpPr>
        <p:spPr>
          <a:xfrm>
            <a:off x="762000" y="4064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F7F3E8">
                    <a:alpha val="80000"/>
                  </a:srgbClr>
                </a:solidFill>
                <a:latin typeface="MiSans"/>
                <a:ea typeface="MiSans"/>
              </a:rPr>
              <a:t>为什么需要一项全国性的 IHCA 注册研究？BASIC-IHCA 如何设计、如何保障数据质量、纳入了怎样的人群？</a:t>
            </a:r>
            <a:endParaRPr lang="en-US" sz="1300" noProof="1"/>
          </a:p>
        </p:txBody>
      </p:sp>
      <p:sp>
        <p:nvSpPr>
          <p:cNvPr id="6" name="kicker"/>
          <p:cNvSpPr txBox="1"/>
          <p:nvPr/>
        </p:nvSpPr>
        <p:spPr>
          <a:xfrm>
            <a:off x="762000" y="6096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300" kern="0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BACKGROUND &amp; METHODS</a:t>
            </a:r>
            <a:endParaRPr lang="en-US" sz="1000" noProof="1"/>
          </a:p>
        </p:txBody>
      </p:sp>
      <p:sp>
        <p:nvSpPr>
          <p:cNvPr id="7" name="pagenum"/>
          <p:cNvSpPr txBox="1"/>
          <p:nvPr/>
        </p:nvSpPr>
        <p:spPr>
          <a:xfrm>
            <a:off x="10541000" y="60960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03 / 25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01 · 研究背景与设计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04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研究背景：IHCA 的疾病负担与证据缺口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body"/>
          <p:cNvSpPr txBox="1"/>
          <p:nvPr/>
        </p:nvSpPr>
        <p:spPr>
          <a:xfrm>
            <a:off x="762000" y="1333500"/>
            <a:ext cx="5842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疾病负担</a:t>
            </a: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：院内心脏骤停（IHCA）以高死亡率与神经功能致残率成为各国医疗系统的重大挑战。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证据分布不均</a:t>
            </a: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：过去 20 年，大型注册研究（美国 NRCPR、英国 NCAA、丹麦、瑞典）深化了对 IHCA 的认识并推动预后改善——高收入国家出院存活率已达 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18.4%–35.6%</a:t>
            </a: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LMIC 盲区</a:t>
            </a: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：中低收入国家证据多限于单中心或单城市研究，缺乏标准化救治流程数据，无法进行全球基准比较。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中国数据缺口</a:t>
            </a: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：此前唯一大型研究为 2014 年北京 12 家医院（Shao F, Resuscitation 2016）：发生率 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17.5/1000 入院</a:t>
            </a: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、出院存活 </a:t>
            </a:r>
            <a:r>
              <a:rPr lang="en-US" sz="1300" noProof="1" b="1">
                <a:solidFill>
                  <a:srgbClr val="27231F"/>
                </a:solidFill>
                <a:latin typeface="MiSans"/>
                <a:ea typeface="MiSans"/>
              </a:rPr>
              <a:t>9.1%</a:t>
            </a:r>
            <a:r>
              <a:rPr lang="en-US" sz="1300" noProof="1">
                <a:solidFill>
                  <a:srgbClr val="27231F"/>
                </a:solidFill>
                <a:latin typeface="MiSans"/>
                <a:ea typeface="MiSans"/>
              </a:rPr>
              <a:t>；但仅覆盖首都医院、流程记录有限，难以指导系统改进。</a:t>
            </a:r>
            <a:endParaRPr lang="en-US" sz="1300" noProof="1"/>
          </a:p>
        </p:txBody>
      </p:sp>
      <p:sp>
        <p:nvSpPr>
          <p:cNvPr id="8" name="tbl-title"/>
          <p:cNvSpPr txBox="1"/>
          <p:nvPr/>
        </p:nvSpPr>
        <p:spPr>
          <a:xfrm>
            <a:off x="7112000" y="13335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表 ｜ 主要 IHCA 证据的存活率对比</a:t>
            </a:r>
            <a:endParaRPr lang="en-US" sz="1200" noProof="1"/>
          </a:p>
        </p:txBody>
      </p:sp>
      <p:graphicFrame>
        <p:nvGraphicFramePr>
          <p:cNvPr id="9" name="tbl"/>
          <p:cNvGraphicFramePr>
            <a:graphicFrameLocks noGrp="1"/>
          </p:cNvGraphicFramePr>
          <p:nvPr/>
        </p:nvGraphicFramePr>
        <p:xfrm>
          <a:off x="7112000" y="1676400"/>
          <a:ext cx="4318000" cy="2413000"/>
        </p:xfrm>
        <a:graphic>
          <a:graphicData uri="http://schemas.openxmlformats.org/drawingml/2006/table">
            <a:tbl>
              <a:tblPr/>
              <a:tblGrid>
                <a:gridCol w="1899920"/>
                <a:gridCol w="1209040"/>
                <a:gridCol w="1209040"/>
              </a:tblGrid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证据来源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出院存活率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高收入国家注册研究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美/英/丹/瑞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18.4%–35.6%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北京 12 医院研究 (2014)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中国·城市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9.1%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BASIC-OHCA 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LMIC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数据零散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本文 BASIC-IHCA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全国 29 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见结果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q-box"/>
          <p:cNvSpPr/>
          <p:nvPr/>
        </p:nvSpPr>
        <p:spPr>
          <a:xfrm>
            <a:off x="7112000" y="4445000"/>
            <a:ext cx="4318000" cy="1143000"/>
          </a:xfrm>
          <a:prstGeom prst="rect">
            <a:avLst/>
          </a:prstGeom>
          <a:solidFill>
            <a:srgbClr val="EFE9DB"/>
          </a:solidFill>
          <a:ln>
            <a:noFill/>
          </a:ln>
        </p:spPr>
      </p:sp>
      <p:sp>
        <p:nvSpPr>
          <p:cNvPr id="11" name="q-bar"/>
          <p:cNvSpPr/>
          <p:nvPr/>
        </p:nvSpPr>
        <p:spPr>
          <a:xfrm>
            <a:off x="7112000" y="4445000"/>
            <a:ext cx="50800" cy="11430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12" name="q-text"/>
          <p:cNvSpPr txBox="1"/>
          <p:nvPr/>
        </p:nvSpPr>
        <p:spPr>
          <a:xfrm>
            <a:off x="7366000" y="4572000"/>
            <a:ext cx="38735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684765"/>
                </a:solidFill>
                <a:latin typeface="MiSans"/>
                <a:ea typeface="MiSans"/>
              </a:rPr>
              <a:t>研究问题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：中国 IHCA 的疾病负担多沉重？救治流程与国际差距在哪里？系统层面如何改进？</a:t>
            </a:r>
            <a:endParaRPr lang="en-US" sz="1200" noProof="1"/>
          </a:p>
        </p:txBody>
      </p:sp>
      <p:sp>
        <p:nvSpPr>
          <p:cNvPr id="13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2026（引言部分）；Shao F, et al. Resuscitation. 2016;102:51-56.</a:t>
            </a:r>
            <a:endParaRPr lang="en-US" sz="8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01 · 研究背景与设计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05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BASIC-IHCA：研究设计与方法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col1-h"/>
          <p:cNvSpPr txBox="1"/>
          <p:nvPr/>
        </p:nvSpPr>
        <p:spPr>
          <a:xfrm>
            <a:off x="762000" y="12700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注册设计</a:t>
            </a:r>
            <a:endParaRPr lang="en-US" sz="1300" noProof="1"/>
          </a:p>
        </p:txBody>
      </p:sp>
      <p:sp>
        <p:nvSpPr>
          <p:cNvPr id="8" name="col1"/>
          <p:cNvSpPr txBox="1"/>
          <p:nvPr/>
        </p:nvSpPr>
        <p:spPr>
          <a:xfrm>
            <a:off x="762000" y="1600200"/>
            <a:ext cx="3429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多中心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前瞻性队列注册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，统一采用 Utstein 模板采集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全国 7 大地理区域选点，覆盖城乡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初始 40 家医院：32 家城市 + 8 家县级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连续入组：2019-07-01 至 2020-12-31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同一住院期间多次骤停仅记录首次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排除院外心脏骤停（OHCA）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出院后电话随访：30 天 / 6 月 / 12 月</a:t>
            </a:r>
            <a:endParaRPr lang="en-US" sz="1150" noProof="1"/>
          </a:p>
        </p:txBody>
      </p:sp>
      <p:sp>
        <p:nvSpPr>
          <p:cNvPr id="9" name="col2-h"/>
          <p:cNvSpPr txBox="1"/>
          <p:nvPr/>
        </p:nvSpPr>
        <p:spPr>
          <a:xfrm>
            <a:off x="4445000" y="12700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质量控制与伦理</a:t>
            </a:r>
            <a:endParaRPr lang="en-US" sz="1300" noProof="1"/>
          </a:p>
        </p:txBody>
      </p:sp>
      <p:sp>
        <p:nvSpPr>
          <p:cNvPr id="10" name="col2"/>
          <p:cNvSpPr txBox="1"/>
          <p:nvPr/>
        </p:nvSpPr>
        <p:spPr>
          <a:xfrm>
            <a:off x="4445000" y="1600200"/>
            <a:ext cx="3429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标准化培训的调查员 + 专用电子数据采集系统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预定义核查规则与实时提醒，减少缺失/越界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提交记录与原始病历、护理记录逐项核对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中心统计验证：查重、离群值、逻辑错误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每 3–6 个月现场审计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齐鲁医院伦理批准（No. 2019012），豁免知情同意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按 STROBE 指南报告</a:t>
            </a:r>
            <a:endParaRPr lang="en-US" sz="1150" noProof="1"/>
          </a:p>
        </p:txBody>
      </p:sp>
      <p:sp>
        <p:nvSpPr>
          <p:cNvPr id="11" name="col3-h"/>
          <p:cNvSpPr txBox="1"/>
          <p:nvPr/>
        </p:nvSpPr>
        <p:spPr>
          <a:xfrm>
            <a:off x="8128000" y="1270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统计分析</a:t>
            </a:r>
            <a:endParaRPr lang="en-US" sz="1300" noProof="1"/>
          </a:p>
        </p:txBody>
      </p:sp>
      <p:sp>
        <p:nvSpPr>
          <p:cNvPr id="12" name="col3"/>
          <p:cNvSpPr txBox="1"/>
          <p:nvPr/>
        </p:nvSpPr>
        <p:spPr>
          <a:xfrm>
            <a:off x="8128000" y="1600200"/>
            <a:ext cx="3302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发生率＝接受 CPR 成人 IHCA ÷ 总入院人次（/1000）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连续变量以中位数（IQR）描述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多变量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混合效应 logistic 回归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（医院随机截距）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亚组：城乡 / 高校附属 / 医院等级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COVID-19 三时期对比分析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SAS 9.4；双侧检验 P&lt;0.05</a:t>
            </a:r>
            <a:endParaRPr lang="en-US" sz="1150" noProof="1"/>
          </a:p>
        </p:txBody>
      </p:sp>
      <p:sp>
        <p:nvSpPr>
          <p:cNvPr id="13" name="flow-line"/>
          <p:cNvSpPr/>
          <p:nvPr/>
        </p:nvSpPr>
        <p:spPr>
          <a:xfrm>
            <a:off x="762000" y="45212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14" name="flow-h"/>
          <p:cNvSpPr txBox="1"/>
          <p:nvPr/>
        </p:nvSpPr>
        <p:spPr>
          <a:xfrm>
            <a:off x="762000" y="4724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图 1 ｜ 研究人群筛选流程</a:t>
            </a:r>
            <a:endParaRPr lang="en-US" sz="1200" noProof="1"/>
          </a:p>
        </p:txBody>
      </p:sp>
      <p:sp>
        <p:nvSpPr>
          <p:cNvPr id="15" name="s1"/>
          <p:cNvSpPr/>
          <p:nvPr/>
        </p:nvSpPr>
        <p:spPr>
          <a:xfrm>
            <a:off x="762000" y="5080000"/>
            <a:ext cx="2413000" cy="711200"/>
          </a:xfrm>
          <a:prstGeom prst="homePlate">
            <a:avLst>
              <a:gd name="adj" fmla="val 35000"/>
            </a:avLst>
          </a:prstGeom>
          <a:solidFill>
            <a:srgbClr val="684765"/>
          </a:solidFill>
          <a:ln>
            <a:noFill/>
          </a:ln>
        </p:spPr>
      </p:sp>
      <p:sp>
        <p:nvSpPr>
          <p:cNvPr id="16" name="s1t"/>
          <p:cNvSpPr txBox="1"/>
          <p:nvPr/>
        </p:nvSpPr>
        <p:spPr>
          <a:xfrm>
            <a:off x="889000" y="51562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00" noProof="1" b="1">
                <a:solidFill>
                  <a:srgbClr val="F7F3E8"/>
                </a:solidFill>
                <a:latin typeface="MiSans"/>
                <a:ea typeface="MiSans"/>
              </a:rPr>
              <a:t>32,537</a:t>
            </a:r>
            <a:r>
              <a:rPr lang="en-US" sz="1100" noProof="1">
                <a:solidFill>
                  <a:srgbClr val="F7F3E8"/>
                </a:solidFill>
                <a:latin typeface="MiSans"/>
                <a:ea typeface="MiSans"/>
              </a:rPr>
              <a:t> 例</a:t>
            </a:r>
            <a:endParaRPr lang="en-US" sz="1100" noProof="1"/>
          </a:p>
          <a:p>
            <a:pPr algn="l">
              <a:lnSpc>
                <a:spcPct val="130000"/>
              </a:lnSpc>
            </a:pPr>
            <a:r>
              <a:rPr lang="en-US" sz="1100" noProof="1">
                <a:solidFill>
                  <a:srgbClr val="F7F3E8"/>
                </a:solidFill>
                <a:latin typeface="MiSans"/>
                <a:ea typeface="MiSans"/>
              </a:rPr>
              <a:t>识别成人 IHCA</a:t>
            </a:r>
            <a:endParaRPr lang="en-US" sz="1100" noProof="1"/>
          </a:p>
        </p:txBody>
      </p:sp>
      <p:sp>
        <p:nvSpPr>
          <p:cNvPr id="17" name="s2"/>
          <p:cNvSpPr/>
          <p:nvPr/>
        </p:nvSpPr>
        <p:spPr>
          <a:xfrm>
            <a:off x="3454400" y="5080000"/>
            <a:ext cx="2413000" cy="711200"/>
          </a:xfrm>
          <a:prstGeom prst="homePlate">
            <a:avLst>
              <a:gd name="adj" fmla="val 35000"/>
            </a:avLst>
          </a:prstGeom>
          <a:solidFill>
            <a:srgbClr val="684765"/>
          </a:solidFill>
          <a:ln>
            <a:noFill/>
          </a:ln>
        </p:spPr>
      </p:sp>
      <p:sp>
        <p:nvSpPr>
          <p:cNvPr id="18" name="s2t"/>
          <p:cNvSpPr txBox="1"/>
          <p:nvPr/>
        </p:nvSpPr>
        <p:spPr>
          <a:xfrm>
            <a:off x="3581400" y="51562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00" noProof="1" b="1">
                <a:solidFill>
                  <a:srgbClr val="F7F3E8"/>
                </a:solidFill>
                <a:latin typeface="MiSans"/>
                <a:ea typeface="MiSans"/>
              </a:rPr>
              <a:t>17,691</a:t>
            </a:r>
            <a:r>
              <a:rPr lang="en-US" sz="1100" noProof="1">
                <a:solidFill>
                  <a:srgbClr val="F7F3E8"/>
                </a:solidFill>
                <a:latin typeface="MiSans"/>
                <a:ea typeface="MiSans"/>
              </a:rPr>
              <a:t> 例（54.4%）</a:t>
            </a:r>
            <a:endParaRPr lang="en-US" sz="1100" noProof="1"/>
          </a:p>
          <a:p>
            <a:pPr algn="l">
              <a:lnSpc>
                <a:spcPct val="130000"/>
              </a:lnSpc>
            </a:pPr>
            <a:r>
              <a:rPr lang="en-US" sz="1100" noProof="1">
                <a:solidFill>
                  <a:srgbClr val="F7F3E8"/>
                </a:solidFill>
                <a:latin typeface="MiSans"/>
                <a:ea typeface="MiSans"/>
              </a:rPr>
              <a:t>接受 CPR</a:t>
            </a:r>
            <a:endParaRPr lang="en-US" sz="1100" noProof="1"/>
          </a:p>
        </p:txBody>
      </p:sp>
      <p:sp>
        <p:nvSpPr>
          <p:cNvPr id="19" name="s3"/>
          <p:cNvSpPr/>
          <p:nvPr/>
        </p:nvSpPr>
        <p:spPr>
          <a:xfrm>
            <a:off x="6146800" y="5080000"/>
            <a:ext cx="2413000" cy="711200"/>
          </a:xfrm>
          <a:prstGeom prst="homePlate">
            <a:avLst>
              <a:gd name="adj" fmla="val 35000"/>
            </a:avLst>
          </a:prstGeom>
          <a:solidFill>
            <a:srgbClr val="C9828B"/>
          </a:solidFill>
          <a:ln>
            <a:noFill/>
          </a:ln>
        </p:spPr>
      </p:sp>
      <p:sp>
        <p:nvSpPr>
          <p:cNvPr id="20" name="s3t"/>
          <p:cNvSpPr txBox="1"/>
          <p:nvPr/>
        </p:nvSpPr>
        <p:spPr>
          <a:xfrm>
            <a:off x="6273800" y="51562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89</a:t>
            </a: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 例</a:t>
            </a:r>
            <a:endParaRPr lang="en-US" sz="1100" noProof="1"/>
          </a:p>
          <a:p>
            <a:pPr algn="l">
              <a:lnSpc>
                <a:spcPct val="130000"/>
              </a:lnSpc>
            </a:pP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初始心律未知，排除</a:t>
            </a:r>
            <a:endParaRPr lang="en-US" sz="1100" noProof="1"/>
          </a:p>
        </p:txBody>
      </p:sp>
      <p:sp>
        <p:nvSpPr>
          <p:cNvPr id="21" name="s4"/>
          <p:cNvSpPr/>
          <p:nvPr/>
        </p:nvSpPr>
        <p:spPr>
          <a:xfrm>
            <a:off x="8839200" y="5080000"/>
            <a:ext cx="2413000" cy="711200"/>
          </a:xfrm>
          <a:prstGeom prst="homePlate">
            <a:avLst>
              <a:gd name="adj" fmla="val 35000"/>
            </a:avLst>
          </a:prstGeom>
          <a:solidFill>
            <a:srgbClr val="4A3448"/>
          </a:solidFill>
          <a:ln>
            <a:noFill/>
          </a:ln>
        </p:spPr>
      </p:sp>
      <p:sp>
        <p:nvSpPr>
          <p:cNvPr id="22" name="s4t"/>
          <p:cNvSpPr txBox="1"/>
          <p:nvPr/>
        </p:nvSpPr>
        <p:spPr>
          <a:xfrm>
            <a:off x="8966200" y="51562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00" noProof="1" b="1">
                <a:solidFill>
                  <a:srgbClr val="F7F3E8"/>
                </a:solidFill>
                <a:latin typeface="MiSans"/>
                <a:ea typeface="MiSans"/>
              </a:rPr>
              <a:t>17,602</a:t>
            </a:r>
            <a:r>
              <a:rPr lang="en-US" sz="1100" noProof="1">
                <a:solidFill>
                  <a:srgbClr val="F7F3E8"/>
                </a:solidFill>
                <a:latin typeface="MiSans"/>
                <a:ea typeface="MiSans"/>
              </a:rPr>
              <a:t> 例</a:t>
            </a:r>
            <a:endParaRPr lang="en-US" sz="1100" noProof="1"/>
          </a:p>
          <a:p>
            <a:pPr algn="l">
              <a:lnSpc>
                <a:spcPct val="130000"/>
              </a:lnSpc>
            </a:pPr>
            <a:r>
              <a:rPr lang="en-US" sz="1100" noProof="1">
                <a:solidFill>
                  <a:srgbClr val="F7F3E8"/>
                </a:solidFill>
                <a:latin typeface="MiSans"/>
                <a:ea typeface="MiSans"/>
              </a:rPr>
              <a:t>纳入最终分析</a:t>
            </a:r>
            <a:endParaRPr lang="en-US" sz="1100" noProof="1"/>
          </a:p>
        </p:txBody>
      </p:sp>
      <p:sp>
        <p:nvSpPr>
          <p:cNvPr id="23" name="flow-note"/>
          <p:cNvSpPr txBox="1"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注：3 家医院因发生率估算偏差被排除（未提供 2020 全年数据 / 年病例量 &lt;10 / 儿科医院）；最终分析纳入 30 家城市 + 7 家县级医院，分布于 29 个省份，2020 年覆盖住院人次 &gt;300 万。</a:t>
            </a:r>
            <a:endParaRPr lang="en-US" sz="1050" noProof="1"/>
          </a:p>
        </p:txBody>
      </p:sp>
      <p:sp>
        <p:nvSpPr>
          <p:cNvPr id="24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2026；研究设计详见 Resusc Plus. 2022;11:100259.</a:t>
            </a:r>
            <a:endParaRPr lang="en-US" sz="8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01 · 研究背景与设计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06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研究人群与基线特征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320800"/>
            <a:ext cx="2095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684765"/>
                </a:solidFill>
                <a:latin typeface="MiSans"/>
                <a:ea typeface="MiSans"/>
              </a:rPr>
              <a:t>17,602</a:t>
            </a:r>
            <a:endParaRPr lang="en-US" sz="2600" noProof="1"/>
          </a:p>
        </p:txBody>
      </p:sp>
      <p:sp>
        <p:nvSpPr>
          <p:cNvPr id="8" name="n1-l"/>
          <p:cNvSpPr txBox="1"/>
          <p:nvPr/>
        </p:nvSpPr>
        <p:spPr>
          <a:xfrm>
            <a:off x="762000" y="1879600"/>
            <a:ext cx="2095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接受 CPR 的成人 IHCA 患者</a:t>
            </a:r>
            <a:endParaRPr lang="en-US" sz="1050" noProof="1"/>
          </a:p>
        </p:txBody>
      </p:sp>
      <p:sp>
        <p:nvSpPr>
          <p:cNvPr id="9" name="n2"/>
          <p:cNvSpPr txBox="1"/>
          <p:nvPr/>
        </p:nvSpPr>
        <p:spPr>
          <a:xfrm>
            <a:off x="2984500" y="13208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684765"/>
                </a:solidFill>
                <a:latin typeface="MiSans"/>
                <a:ea typeface="MiSans"/>
              </a:rPr>
              <a:t>66 岁</a:t>
            </a:r>
            <a:endParaRPr lang="en-US" sz="2600" noProof="1"/>
          </a:p>
        </p:txBody>
      </p:sp>
      <p:sp>
        <p:nvSpPr>
          <p:cNvPr id="10" name="n2-l"/>
          <p:cNvSpPr txBox="1"/>
          <p:nvPr/>
        </p:nvSpPr>
        <p:spPr>
          <a:xfrm>
            <a:off x="2984500" y="1879600"/>
            <a:ext cx="1905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中位年龄（IQR 54–76）</a:t>
            </a:r>
            <a:endParaRPr lang="en-US" sz="1050" noProof="1"/>
          </a:p>
        </p:txBody>
      </p:sp>
      <p:sp>
        <p:nvSpPr>
          <p:cNvPr id="11" name="n3"/>
          <p:cNvSpPr txBox="1"/>
          <p:nvPr/>
        </p:nvSpPr>
        <p:spPr>
          <a:xfrm>
            <a:off x="5207000" y="13208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684765"/>
                </a:solidFill>
                <a:latin typeface="MiSans"/>
                <a:ea typeface="MiSans"/>
              </a:rPr>
              <a:t>65.5%</a:t>
            </a:r>
            <a:endParaRPr lang="en-US" sz="2600" noProof="1"/>
          </a:p>
        </p:txBody>
      </p:sp>
      <p:sp>
        <p:nvSpPr>
          <p:cNvPr id="12" name="n3-l"/>
          <p:cNvSpPr txBox="1"/>
          <p:nvPr/>
        </p:nvSpPr>
        <p:spPr>
          <a:xfrm>
            <a:off x="5207000" y="1879600"/>
            <a:ext cx="1905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男性比例</a:t>
            </a:r>
            <a:endParaRPr lang="en-US" sz="1050" noProof="1"/>
          </a:p>
        </p:txBody>
      </p:sp>
      <p:sp>
        <p:nvSpPr>
          <p:cNvPr id="13" name="n4"/>
          <p:cNvSpPr txBox="1"/>
          <p:nvPr/>
        </p:nvSpPr>
        <p:spPr>
          <a:xfrm>
            <a:off x="7429500" y="13208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684765"/>
                </a:solidFill>
                <a:latin typeface="MiSans"/>
                <a:ea typeface="MiSans"/>
              </a:rPr>
              <a:t>13.5%</a:t>
            </a:r>
            <a:endParaRPr lang="en-US" sz="2600" noProof="1"/>
          </a:p>
        </p:txBody>
      </p:sp>
      <p:sp>
        <p:nvSpPr>
          <p:cNvPr id="14" name="n4-l"/>
          <p:cNvSpPr txBox="1"/>
          <p:nvPr/>
        </p:nvSpPr>
        <p:spPr>
          <a:xfrm>
            <a:off x="7429500" y="1879600"/>
            <a:ext cx="1905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初始可电击心律（2,380 例）</a:t>
            </a:r>
            <a:endParaRPr lang="en-US" sz="1050" noProof="1"/>
          </a:p>
        </p:txBody>
      </p:sp>
      <p:sp>
        <p:nvSpPr>
          <p:cNvPr id="15" name="n5"/>
          <p:cNvSpPr txBox="1"/>
          <p:nvPr/>
        </p:nvSpPr>
        <p:spPr>
          <a:xfrm>
            <a:off x="9652000" y="1320800"/>
            <a:ext cx="177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684765"/>
                </a:solidFill>
                <a:latin typeface="MiSans"/>
                <a:ea typeface="MiSans"/>
              </a:rPr>
              <a:t>37.3%</a:t>
            </a:r>
            <a:endParaRPr lang="en-US" sz="2600" noProof="1"/>
          </a:p>
        </p:txBody>
      </p:sp>
      <p:sp>
        <p:nvSpPr>
          <p:cNvPr id="16" name="n5-l"/>
          <p:cNvSpPr txBox="1"/>
          <p:nvPr/>
        </p:nvSpPr>
        <p:spPr>
          <a:xfrm>
            <a:off x="9652000" y="1879600"/>
            <a:ext cx="177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心源性疾病病因</a:t>
            </a:r>
            <a:endParaRPr lang="en-US" sz="1050" noProof="1"/>
          </a:p>
        </p:txBody>
      </p:sp>
      <p:sp>
        <p:nvSpPr>
          <p:cNvPr id="17" name="chart-title"/>
          <p:cNvSpPr txBox="1"/>
          <p:nvPr/>
        </p:nvSpPr>
        <p:spPr>
          <a:xfrm>
            <a:off x="762000" y="24765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图 ｜ 骤停发生地点分布（n=17,602）</a:t>
            </a:r>
            <a:endParaRPr lang="en-US" sz="1200" noProof="1"/>
          </a:p>
        </p:txBody>
      </p:sp>
      <p:graphicFrame>
        <p:nvGraphicFramePr>
          <p:cNvPr id="18" name="loc-chart"/>
          <p:cNvGraphicFramePr/>
          <p:nvPr/>
        </p:nvGraphicFramePr>
        <p:xfrm>
          <a:off x="762000" y="2819400"/>
          <a:ext cx="5461000" cy="3175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9" name="right-h"/>
          <p:cNvSpPr txBox="1"/>
          <p:nvPr/>
        </p:nvSpPr>
        <p:spPr>
          <a:xfrm>
            <a:off x="6731000" y="24765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要点解读</a:t>
            </a:r>
            <a:endParaRPr lang="en-US" sz="1200" noProof="1"/>
          </a:p>
        </p:txBody>
      </p:sp>
      <p:sp>
        <p:nvSpPr>
          <p:cNvPr id="20" name="right-body"/>
          <p:cNvSpPr txBox="1"/>
          <p:nvPr/>
        </p:nvSpPr>
        <p:spPr>
          <a:xfrm>
            <a:off x="6731000" y="2819400"/>
            <a:ext cx="4699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目击率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98.1%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、监护率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95.5%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——与 ICU/急诊密切观察、病房多人同住+频繁巡视的模式一致，为"快速启动复苏"提供了解释基础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ICU 骤停占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40.2%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，远高于欧洲（9.2%–16.7%），反映患者构成与共病负担更重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发生率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4.1/1000 入院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（2020 年）；医院层面中位 4.3（IQR 3.0–5.0），范围 1.6–14.4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共病负担：低血压/休克 43.0%、肺炎 45.1%、呼吸功能不全 44.1%、冠心病 32.8%、心衰 32.5%</a:t>
            </a:r>
            <a:endParaRPr lang="en-US" sz="1150" noProof="1"/>
          </a:p>
        </p:txBody>
      </p:sp>
      <p:sp>
        <p:nvSpPr>
          <p:cNvPr id="21" name="burden"/>
          <p:cNvSpPr/>
          <p:nvPr/>
        </p:nvSpPr>
        <p:spPr>
          <a:xfrm>
            <a:off x="762000" y="60706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22" name="burden-t"/>
          <p:cNvSpPr txBox="1"/>
          <p:nvPr/>
        </p:nvSpPr>
        <p:spPr>
          <a:xfrm>
            <a:off x="762000" y="6172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疾病负担估算</a:t>
            </a:r>
            <a:r>
              <a:rPr lang="en-US" sz="1200" noProof="1">
                <a:solidFill>
                  <a:srgbClr val="4A3448"/>
                </a:solidFill>
                <a:latin typeface="MiSans"/>
                <a:ea typeface="MiSans"/>
              </a:rPr>
              <a:t>：按全国年住院约 2.27 亿人次推算，中国每年约 </a:t>
            </a: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93 万例</a:t>
            </a:r>
            <a:r>
              <a:rPr lang="en-US" sz="1200" noProof="1">
                <a:solidFill>
                  <a:srgbClr val="4A3448"/>
                </a:solidFill>
                <a:latin typeface="MiSans"/>
                <a:ea typeface="MiSans"/>
              </a:rPr>
              <a:t>成人 IHCA。</a:t>
            </a:r>
            <a:endParaRPr lang="en-US" sz="1200" noProof="1"/>
          </a:p>
        </p:txBody>
      </p:sp>
      <p:sp>
        <p:nvSpPr>
          <p:cNvPr id="23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2026, Table 1 / Table S2；发生率基于 2020 日历年数据。</a:t>
            </a:r>
            <a:endParaRPr lang="en-US" sz="8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684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762000" y="1524000"/>
            <a:ext cx="254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400" noProof="1" b="1">
                <a:solidFill>
                  <a:srgbClr val="F7F3E8"/>
                </a:solidFill>
                <a:latin typeface="MiSans"/>
                <a:ea typeface="MiSans"/>
              </a:rPr>
              <a:t>02</a:t>
            </a:r>
            <a:endParaRPr lang="en-US" sz="6400" noProof="1"/>
          </a:p>
        </p:txBody>
      </p:sp>
      <p:sp>
        <p:nvSpPr>
          <p:cNvPr id="3" name="tick"/>
          <p:cNvSpPr/>
          <p:nvPr/>
        </p:nvSpPr>
        <p:spPr>
          <a:xfrm>
            <a:off x="762000" y="2844800"/>
            <a:ext cx="762000" cy="50800"/>
          </a:xfrm>
          <a:prstGeom prst="rect">
            <a:avLst/>
          </a:prstGeom>
          <a:solidFill>
            <a:srgbClr val="C9828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62000" y="3175000"/>
            <a:ext cx="889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F7F3E8"/>
                </a:solidFill>
                <a:latin typeface="MiSans"/>
                <a:ea typeface="MiSans"/>
              </a:rPr>
              <a:t>研究结果</a:t>
            </a:r>
            <a:endParaRPr lang="en-US" sz="3000" noProof="1"/>
          </a:p>
        </p:txBody>
      </p:sp>
      <p:sp>
        <p:nvSpPr>
          <p:cNvPr id="5" name="desc"/>
          <p:cNvSpPr txBox="1"/>
          <p:nvPr/>
        </p:nvSpPr>
        <p:spPr>
          <a:xfrm>
            <a:off x="762000" y="4064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F7F3E8">
                    <a:alpha val="80000"/>
                  </a:srgbClr>
                </a:solidFill>
                <a:latin typeface="MiSans"/>
                <a:ea typeface="MiSans"/>
              </a:rPr>
              <a:t>复苏期流程是否达标？复苏后救治与国际差距多大？患者最终能否存活、神经功能预后如何？哪些因素与存活相关？</a:t>
            </a:r>
            <a:endParaRPr lang="en-US" sz="1300" noProof="1"/>
          </a:p>
        </p:txBody>
      </p:sp>
      <p:sp>
        <p:nvSpPr>
          <p:cNvPr id="6" name="kicker"/>
          <p:cNvSpPr txBox="1"/>
          <p:nvPr/>
        </p:nvSpPr>
        <p:spPr>
          <a:xfrm>
            <a:off x="762000" y="6096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300" kern="0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RESULTS</a:t>
            </a:r>
            <a:endParaRPr lang="en-US" sz="1000" noProof="1"/>
          </a:p>
        </p:txBody>
      </p:sp>
      <p:sp>
        <p:nvSpPr>
          <p:cNvPr id="7" name="pagenum"/>
          <p:cNvSpPr txBox="1"/>
          <p:nvPr/>
        </p:nvSpPr>
        <p:spPr>
          <a:xfrm>
            <a:off x="10541000" y="60960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07 / 25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02 · 研究结果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08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复苏期救治流程：启动迅速、环节基本达标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chart-title"/>
          <p:cNvSpPr txBox="1"/>
          <p:nvPr/>
        </p:nvSpPr>
        <p:spPr>
          <a:xfrm>
            <a:off x="762000" y="12700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图 2 ｜ 复苏期关键流程指标（%）</a:t>
            </a:r>
            <a:endParaRPr lang="en-US" sz="1200" noProof="1"/>
          </a:p>
        </p:txBody>
      </p:sp>
      <p:graphicFrame>
        <p:nvGraphicFramePr>
          <p:cNvPr id="8" name="process-chart"/>
          <p:cNvGraphicFramePr/>
          <p:nvPr/>
        </p:nvGraphicFramePr>
        <p:xfrm>
          <a:off x="762000" y="1600200"/>
          <a:ext cx="5461000" cy="406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9" name="right-h"/>
          <p:cNvSpPr txBox="1"/>
          <p:nvPr/>
        </p:nvSpPr>
        <p:spPr>
          <a:xfrm>
            <a:off x="6731000" y="12700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解读</a:t>
            </a:r>
            <a:endParaRPr lang="en-US" sz="1200" noProof="1"/>
          </a:p>
        </p:txBody>
      </p:sp>
      <p:sp>
        <p:nvSpPr>
          <p:cNvPr id="10" name="right-body"/>
          <p:cNvSpPr txBox="1"/>
          <p:nvPr/>
        </p:nvSpPr>
        <p:spPr>
          <a:xfrm>
            <a:off x="6731000" y="1600200"/>
            <a:ext cx="4699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95.9%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患者在骤停识别后 1 min 内启动按压/除颤——高目击率与监护率支撑下的"快速起步"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可电击心律中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16.2%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全程未除颤；未及时除颤（&gt;2 min 或未除颤）合计 28.6%，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普通病房及时除颤率最低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——除颤仪可及性问题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仅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3/40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家医院建有结构化快速反应系统（RRS）；这 3 家医院普通病房骤停的团队激活率 70.7%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中国现行模式：ICU/急诊就地抢救；病房骤停由病区人员起步，除颤仪与高级气道支持从他科调用、电话激活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CPR 持续时间中位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30 min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（IQR 15–50）；获持续 ROSC 者 11 min vs 未获者 39 min；可电击心律者更短（18 vs 30 min）</a:t>
            </a:r>
            <a:endParaRPr lang="en-US" sz="1150" noProof="1"/>
          </a:p>
        </p:txBody>
      </p:sp>
      <p:sp>
        <p:nvSpPr>
          <p:cNvPr id="11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2026, Table 2 / Figure 2。及时除颤＝识别后 ≤2 min；及时肾上腺素＝识别后 ≤5 min。</a:t>
            </a:r>
            <a:endParaRPr lang="en-US" sz="8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02 · 研究结果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09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复苏后救治：与国际差距最大的环节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chart-title"/>
          <p:cNvSpPr txBox="1"/>
          <p:nvPr/>
        </p:nvSpPr>
        <p:spPr>
          <a:xfrm>
            <a:off x="762000" y="12700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图 ｜ 持续 ROSC 后的干预实施率（n=6,200）</a:t>
            </a:r>
            <a:endParaRPr lang="en-US" sz="1200" noProof="1"/>
          </a:p>
        </p:txBody>
      </p:sp>
      <p:graphicFrame>
        <p:nvGraphicFramePr>
          <p:cNvPr id="8" name="gap-chart"/>
          <p:cNvGraphicFramePr/>
          <p:nvPr/>
        </p:nvGraphicFramePr>
        <p:xfrm>
          <a:off x="762000" y="1600200"/>
          <a:ext cx="5461000" cy="3175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9" name="cmp-note"/>
          <p:cNvSpPr txBox="1"/>
          <p:nvPr/>
        </p:nvSpPr>
        <p:spPr>
          <a:xfrm>
            <a:off x="762000" y="49022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高收入国家报告范围：温度控制 6.0%–10.4%；冠脉造影 17.7%–31.2%；PCI 6.3%–17.5%——中国在每个环节均显著落后。</a:t>
            </a:r>
            <a:endParaRPr lang="en-US" sz="1050" noProof="1"/>
          </a:p>
        </p:txBody>
      </p:sp>
      <p:sp>
        <p:nvSpPr>
          <p:cNvPr id="10" name="tbl-title"/>
          <p:cNvSpPr txBox="1"/>
          <p:nvPr/>
        </p:nvSpPr>
        <p:spPr>
          <a:xfrm>
            <a:off x="6731000" y="12700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表 ｜ 按初始心律的复苏后干预</a:t>
            </a:r>
            <a:endParaRPr lang="en-US" sz="1200" noProof="1"/>
          </a:p>
        </p:txBody>
      </p:sp>
      <p:graphicFrame>
        <p:nvGraphicFramePr>
          <p:cNvPr id="11" name="cmp-tbl"/>
          <p:cNvGraphicFramePr>
            <a:graphicFrameLocks noGrp="1"/>
          </p:cNvGraphicFramePr>
          <p:nvPr/>
        </p:nvGraphicFramePr>
        <p:xfrm>
          <a:off x="6731000" y="1600200"/>
          <a:ext cx="4699000" cy="1651000"/>
        </p:xfrm>
        <a:graphic>
          <a:graphicData uri="http://schemas.openxmlformats.org/drawingml/2006/table">
            <a:tbl>
              <a:tblPr/>
              <a:tblGrid>
                <a:gridCol w="1879600"/>
                <a:gridCol w="1409700"/>
                <a:gridCol w="1409700"/>
              </a:tblGrid>
              <a:tr h="412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干预（ROSC 后）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可电击心律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不可电击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冠状动脉造影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15.6%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1.8%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PCI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13.1%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1.5%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12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温度控制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2.4%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4.0%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ight-body"/>
          <p:cNvSpPr txBox="1"/>
          <p:nvPr/>
        </p:nvSpPr>
        <p:spPr>
          <a:xfrm>
            <a:off x="6731000" y="3454400"/>
            <a:ext cx="4699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可电击心律患者更可能接受造影与 PCI——提示病因导向的复苏后评估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并非没有意识，而是资源受限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低利用率反映系统障碍：高级心脏照护可及性有限、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ICU 床位短缺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，指南推荐干预难以落地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温度控制 3.6%（其中规范 TTM 仅 0.8%），与 2025 AHA 指南推荐差距巨大——详见第 17 页 TTM 解析</a:t>
            </a:r>
            <a:endParaRPr lang="en-US" sz="1150" noProof="1"/>
          </a:p>
        </p:txBody>
      </p:sp>
      <p:sp>
        <p:nvSpPr>
          <p:cNvPr id="13" name="callout"/>
          <p:cNvSpPr/>
          <p:nvPr/>
        </p:nvSpPr>
        <p:spPr>
          <a:xfrm>
            <a:off x="6731000" y="5588000"/>
            <a:ext cx="4699000" cy="584200"/>
          </a:xfrm>
          <a:prstGeom prst="rect">
            <a:avLst/>
          </a:prstGeom>
          <a:solidFill>
            <a:srgbClr val="EFE9DB"/>
          </a:solidFill>
          <a:ln>
            <a:noFill/>
          </a:ln>
        </p:spPr>
      </p:sp>
      <p:sp>
        <p:nvSpPr>
          <p:cNvPr id="14" name="callout-bar"/>
          <p:cNvSpPr/>
          <p:nvPr/>
        </p:nvSpPr>
        <p:spPr>
          <a:xfrm>
            <a:off x="6731000" y="5588000"/>
            <a:ext cx="50800" cy="584200"/>
          </a:xfrm>
          <a:prstGeom prst="rect">
            <a:avLst/>
          </a:prstGeom>
          <a:solidFill>
            <a:srgbClr val="C9828B"/>
          </a:solidFill>
          <a:ln>
            <a:noFill/>
          </a:ln>
        </p:spPr>
      </p:sp>
      <p:sp>
        <p:nvSpPr>
          <p:cNvPr id="15" name="callout-t"/>
          <p:cNvSpPr txBox="1"/>
          <p:nvPr/>
        </p:nvSpPr>
        <p:spPr>
          <a:xfrm>
            <a:off x="6959600" y="5664200"/>
            <a:ext cx="431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复苏成功后死亡集中于骤停后早期——</a:t>
            </a:r>
            <a:r>
              <a:rPr lang="en-US" sz="1100" noProof="1" b="1">
                <a:solidFill>
                  <a:srgbClr val="27231F"/>
                </a:solidFill>
                <a:latin typeface="MiSans"/>
                <a:ea typeface="MiSans"/>
              </a:rPr>
              <a:t>复苏后重症救治体系是关键杠杆</a:t>
            </a: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16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2026, Table 2；高收入国家范围引自该文讨论部分（GWTG-R 等注册研究）。</a:t>
            </a:r>
            <a:endParaRPr lang="en-US" sz="8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02 · 研究结果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10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临床结局：短期存活率低，死亡集中于骤停后早期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chart-title"/>
          <p:cNvSpPr txBox="1"/>
          <p:nvPr/>
        </p:nvSpPr>
        <p:spPr>
          <a:xfrm>
            <a:off x="762000" y="12700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图 3 ｜ 复苏结局逐级递减（%）</a:t>
            </a:r>
            <a:endParaRPr lang="en-US" sz="1200" noProof="1"/>
          </a:p>
        </p:txBody>
      </p:sp>
      <p:graphicFrame>
        <p:nvGraphicFramePr>
          <p:cNvPr id="8" name="funnel-chart"/>
          <p:cNvGraphicFramePr/>
          <p:nvPr/>
        </p:nvGraphicFramePr>
        <p:xfrm>
          <a:off x="762000" y="1600200"/>
          <a:ext cx="5461000" cy="4191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9" name="right-h"/>
          <p:cNvSpPr txBox="1"/>
          <p:nvPr/>
        </p:nvSpPr>
        <p:spPr>
          <a:xfrm>
            <a:off x="6731000" y="12700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解读</a:t>
            </a:r>
            <a:endParaRPr lang="en-US" sz="1200" noProof="1"/>
          </a:p>
        </p:txBody>
      </p:sp>
      <p:sp>
        <p:nvSpPr>
          <p:cNvPr id="10" name="right-body"/>
          <p:cNvSpPr txBox="1"/>
          <p:nvPr/>
        </p:nvSpPr>
        <p:spPr>
          <a:xfrm>
            <a:off x="6731000" y="1600200"/>
            <a:ext cx="4699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持续 ROSC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35.2%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，处于国际报告范围下限（35.7%–72.2%）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30 天存活/出院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9.1%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，显著低于高收入国家（18.4%–35.6%）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神经功能良好率（CPC 1–2）出院/30 天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7.1%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，12 个月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5.6%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但出院者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长期预后与 HIC 相当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：6 个月存活 72.2%、1 年存活 66.8%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死亡高度集中于骤停后早期 →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仅缩短反应时间不足以改善总体存活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，必须建设复苏后重症救治能力，让 ROSC 转化为可持续的恢复</a:t>
            </a:r>
            <a:endParaRPr lang="en-US" sz="1150" noProof="1"/>
          </a:p>
        </p:txBody>
      </p:sp>
      <p:sp>
        <p:nvSpPr>
          <p:cNvPr id="11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2026, Figure 2 / Table 3；国际范围引自该文讨论部分。</a:t>
            </a:r>
            <a:endParaRPr lang="en-US" sz="8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02 · 研究结果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11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初始心律决定预后：可电击 vs 不可电击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chart-title"/>
          <p:cNvSpPr txBox="1"/>
          <p:nvPr/>
        </p:nvSpPr>
        <p:spPr>
          <a:xfrm>
            <a:off x="762000" y="12700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图 4 ｜ 按初始心律的结局对比（%）</a:t>
            </a:r>
            <a:endParaRPr lang="en-US" sz="1200" noProof="1"/>
          </a:p>
        </p:txBody>
      </p:sp>
      <p:graphicFrame>
        <p:nvGraphicFramePr>
          <p:cNvPr id="8" name="rhythm-chart"/>
          <p:cNvGraphicFramePr/>
          <p:nvPr/>
        </p:nvGraphicFramePr>
        <p:xfrm>
          <a:off x="762000" y="1600200"/>
          <a:ext cx="5461000" cy="406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9" name="right-body"/>
          <p:cNvSpPr txBox="1"/>
          <p:nvPr/>
        </p:nvSpPr>
        <p:spPr>
          <a:xfrm>
            <a:off x="6731000" y="1270000"/>
            <a:ext cx="4699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可电击心律（VF/pVT）仅占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13.5%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（2,380/17,602），低于 HIC 报告（16.9%–26.8%）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可电击心律结局：持续 ROSC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63.2%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、30 天存活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34.0%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、神经良好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30.9%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、12 个月存活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25.9%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不可电击心律结局：持续 ROSC 30.9%、30 天存活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5.3%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、神经良好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3.3%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多变量模型：初始可电击心律与 30 天存活强相关，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aOR 6.39（95%CI 5.60–7.29）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机理层面：可电击心律有确定性治疗手段（早期除颤），而不可电击心律提示更严重的电生理/泵衰竭——解析见第 16 页</a:t>
            </a:r>
            <a:endParaRPr lang="en-US" sz="1150" noProof="1"/>
          </a:p>
        </p:txBody>
      </p:sp>
      <p:sp>
        <p:nvSpPr>
          <p:cNvPr id="10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2026, Table 3 / Table 4。</a:t>
            </a:r>
            <a:endParaRPr lang="en-US" sz="8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02 · 研究结果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12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与 30 天存活相关的因素（多变量混合效应模型）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tbl-good-h"/>
          <p:cNvSpPr txBox="1"/>
          <p:nvPr/>
        </p:nvSpPr>
        <p:spPr>
          <a:xfrm>
            <a:off x="762000" y="12700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684765"/>
                </a:solidFill>
                <a:latin typeface="MiSans"/>
                <a:ea typeface="MiSans"/>
              </a:rPr>
              <a:t>与存活率较高相关</a:t>
            </a:r>
            <a:endParaRPr lang="en-US" sz="1200" noProof="1"/>
          </a:p>
        </p:txBody>
      </p:sp>
      <p:graphicFrame>
        <p:nvGraphicFramePr>
          <p:cNvPr id="8" name="tbl-good"/>
          <p:cNvGraphicFramePr>
            <a:graphicFrameLocks noGrp="1"/>
          </p:cNvGraphicFramePr>
          <p:nvPr/>
        </p:nvGraphicFramePr>
        <p:xfrm>
          <a:off x="762000" y="1600200"/>
          <a:ext cx="5207000" cy="3429000"/>
        </p:xfrm>
        <a:graphic>
          <a:graphicData uri="http://schemas.openxmlformats.org/drawingml/2006/table">
            <a:tbl>
              <a:tblPr/>
              <a:tblGrid>
                <a:gridCol w="2707640"/>
                <a:gridCol w="2499360"/>
              </a:tblGrid>
              <a:tr h="44577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因素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aOR（95%CI）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初始可电击心律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6.39（5.60–7.29）**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年龄 18–49 岁（vs ≥80）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2.85（2.28–3.57）**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骤停于手术室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2.32（1.55–3.49）**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骤停于心导管室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1.73（1.23–2.43）**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骤停于 ICU（vs 普通病房）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1.38（1.18–1.62）**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心源性疾病病因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1.23（1.05–1.44）*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冠心病 / 肺炎病史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1.26（约）*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bl-bad-h"/>
          <p:cNvSpPr txBox="1"/>
          <p:nvPr/>
        </p:nvSpPr>
        <p:spPr>
          <a:xfrm>
            <a:off x="6477000" y="12700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828B"/>
                </a:solidFill>
                <a:latin typeface="MiSans"/>
                <a:ea typeface="MiSans"/>
              </a:rPr>
              <a:t>与存活率较低相关</a:t>
            </a:r>
            <a:endParaRPr lang="en-US" sz="1200" noProof="1"/>
          </a:p>
        </p:txBody>
      </p:sp>
      <p:graphicFrame>
        <p:nvGraphicFramePr>
          <p:cNvPr id="10" name="tbl-bad"/>
          <p:cNvGraphicFramePr>
            <a:graphicFrameLocks noGrp="1"/>
          </p:cNvGraphicFramePr>
          <p:nvPr/>
        </p:nvGraphicFramePr>
        <p:xfrm>
          <a:off x="6477000" y="1600200"/>
          <a:ext cx="4953000" cy="3429000"/>
        </p:xfrm>
        <a:graphic>
          <a:graphicData uri="http://schemas.openxmlformats.org/drawingml/2006/table">
            <a:tbl>
              <a:tblPr/>
              <a:tblGrid>
                <a:gridCol w="2575560"/>
                <a:gridCol w="2377440"/>
              </a:tblGrid>
              <a:tr h="44577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因素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aOR（95%CI）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低血压 / 休克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0.38（0.33–0.43）**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骤停前已置 IABP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0.41（0.24–0.72）**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恶性肿瘤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0.53（0.43–0.65）**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急性卒中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0.56（0.46–0.69）**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肝功能不全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0.58（0.47–0.72）**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骤停前已建立高级气道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0.58（0.49–0.69）**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2622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肾功能不全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0.65（0.55–0.76）**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note"/>
          <p:cNvSpPr txBox="1"/>
          <p:nvPr/>
        </p:nvSpPr>
        <p:spPr>
          <a:xfrm>
            <a:off x="762000" y="52324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* P&lt;0.05，** P&lt;0.001。模型以医院为随机截距，校正年龄、性别、骤停地点、病因、目击/监护状态、初始心律、全部基础疾病及骤停前干预（高级气道、IABP）。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9B9489"/>
                </a:solidFill>
                <a:latin typeface="MiSans"/>
                <a:ea typeface="MiSans"/>
              </a:rPr>
              <a:t>其他显著不利因素：呼吸功能不全 aOR 0.68（0.59–0.78）、处于监护状态 aOR 0.76（0.59–0.99）；心力衰竭 aOR 0.81（0.70–0.93）。"已建立高级气道/IABP"提示骤停前病情更重，为病情严重度标志而非干预本身有害。</a:t>
            </a:r>
            <a:endParaRPr lang="en-US" sz="1050" noProof="1"/>
          </a:p>
        </p:txBody>
      </p:sp>
      <p:sp>
        <p:nvSpPr>
          <p:cNvPr id="12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2026, Table 4（总队列，n=17,602）。</a:t>
            </a:r>
            <a:endParaRPr lang="en-US" sz="8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02 · 研究结果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13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亚组分析：医院特征与 COVID-19 时期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col1-h"/>
          <p:cNvSpPr txBox="1"/>
          <p:nvPr/>
        </p:nvSpPr>
        <p:spPr>
          <a:xfrm>
            <a:off x="762000" y="1333500"/>
            <a:ext cx="5207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684765"/>
                </a:solidFill>
                <a:latin typeface="MiSans"/>
                <a:ea typeface="MiSans"/>
              </a:rPr>
              <a:t>按医院特征分层</a:t>
            </a:r>
            <a:endParaRPr lang="en-US" sz="1400" noProof="1"/>
          </a:p>
        </p:txBody>
      </p:sp>
      <p:sp>
        <p:nvSpPr>
          <p:cNvPr id="8" name="col1"/>
          <p:cNvSpPr txBox="1"/>
          <p:nvPr/>
        </p:nvSpPr>
        <p:spPr>
          <a:xfrm>
            <a:off x="762000" y="1701800"/>
            <a:ext cx="5207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医院等级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（三级 vs 二级）与任何 ROSC、持续 ROSC、30 天存活/出院独立相关——校正后仍然显著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· 但医院等级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与神经功能良好及长期结局无关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· 城乡分布、高校附属与否：描述性结果见补充表 S4–S6，校正分析见 S7–S14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· 提示：急性期复苏能力随医院级别提升，但决定神经与长期预后的是复苏后救治链条</a:t>
            </a:r>
            <a:endParaRPr lang="en-US" sz="1200" noProof="1"/>
          </a:p>
        </p:txBody>
      </p:sp>
      <p:sp>
        <p:nvSpPr>
          <p:cNvPr id="9" name="col2-h"/>
          <p:cNvSpPr txBox="1"/>
          <p:nvPr/>
        </p:nvSpPr>
        <p:spPr>
          <a:xfrm>
            <a:off x="6477000" y="13335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684765"/>
                </a:solidFill>
                <a:latin typeface="MiSans"/>
                <a:ea typeface="MiSans"/>
              </a:rPr>
              <a:t>按 COVID-19 时期分层</a:t>
            </a:r>
            <a:endParaRPr lang="en-US" sz="1400" noProof="1"/>
          </a:p>
        </p:txBody>
      </p:sp>
      <p:sp>
        <p:nvSpPr>
          <p:cNvPr id="10" name="col2"/>
          <p:cNvSpPr txBox="1"/>
          <p:nvPr/>
        </p:nvSpPr>
        <p:spPr>
          <a:xfrm>
            <a:off x="6477000" y="1701800"/>
            <a:ext cx="4953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· 预设 3 个时期（限 3 个时期均有入组的医院，共 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8,903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 例）：</a:t>
            </a:r>
            <a:endParaRPr lang="en-US" sz="1200" noProof="1"/>
          </a:p>
          <a:p>
            <a:pPr marL="203200">
              <a:lnSpc>
                <a:spcPct val="15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暴发前 2019.09–11：2,757 例</a:t>
            </a:r>
            <a:endParaRPr lang="en-US" sz="1200" noProof="1"/>
          </a:p>
          <a:p>
            <a:pPr marL="203200">
              <a:lnSpc>
                <a:spcPct val="15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暴发期 2020.02–04：2,771 例</a:t>
            </a:r>
            <a:endParaRPr lang="en-US" sz="1200" noProof="1"/>
          </a:p>
          <a:p>
            <a:pPr marL="203200">
              <a:lnSpc>
                <a:spcPct val="155000"/>
              </a:lnSpc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— 暴发后 2020.09–11：3,375 例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· 暴发期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可电击心律与心源病因比例更低</a:t>
            </a: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（患者构成改变）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· 初始复苏流程仍保持及时；任何 ROSC / 持续 ROSC 更低，校正后差异仍显著</a:t>
            </a:r>
            <a:endParaRPr lang="en-US" sz="12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27231F"/>
                </a:solidFill>
                <a:latin typeface="MiSans"/>
                <a:ea typeface="MiSans"/>
              </a:rPr>
              <a:t>· 暴发期与 30 天存活、神经功能及长期结局</a:t>
            </a:r>
            <a:r>
              <a:rPr lang="en-US" sz="1200" noProof="1" b="1">
                <a:solidFill>
                  <a:srgbClr val="27231F"/>
                </a:solidFill>
                <a:latin typeface="MiSans"/>
                <a:ea typeface="MiSans"/>
              </a:rPr>
              <a:t>无显著关联</a:t>
            </a:r>
            <a:endParaRPr lang="en-US" sz="1200" noProof="1"/>
          </a:p>
        </p:txBody>
      </p:sp>
      <p:sp>
        <p:nvSpPr>
          <p:cNvPr id="11" name="vline"/>
          <p:cNvSpPr/>
          <p:nvPr/>
        </p:nvSpPr>
        <p:spPr>
          <a:xfrm>
            <a:off x="6223000" y="1397000"/>
            <a:ext cx="12700" cy="40640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12" name="source"/>
          <p:cNvSpPr txBox="1"/>
          <p:nvPr/>
        </p:nvSpPr>
        <p:spPr>
          <a:xfrm>
            <a:off x="762000" y="6502400"/>
            <a:ext cx="965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2026（医院特征分析：Tables S4–S14；COVID-19 分析：Tables S15–S18）。</a:t>
            </a:r>
            <a:endParaRPr lang="en-US" sz="8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684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762000" y="1397000"/>
            <a:ext cx="254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400" noProof="1" b="1">
                <a:solidFill>
                  <a:srgbClr val="F7F3E8"/>
                </a:solidFill>
                <a:latin typeface="MiSans"/>
                <a:ea typeface="MiSans"/>
              </a:rPr>
              <a:t>03</a:t>
            </a:r>
            <a:endParaRPr lang="en-US" sz="6400" noProof="1"/>
          </a:p>
        </p:txBody>
      </p:sp>
      <p:sp>
        <p:nvSpPr>
          <p:cNvPr id="3" name="tick"/>
          <p:cNvSpPr/>
          <p:nvPr/>
        </p:nvSpPr>
        <p:spPr>
          <a:xfrm>
            <a:off x="762000" y="2717800"/>
            <a:ext cx="762000" cy="50800"/>
          </a:xfrm>
          <a:prstGeom prst="rect">
            <a:avLst/>
          </a:prstGeom>
          <a:solidFill>
            <a:srgbClr val="C9828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62000" y="3048000"/>
            <a:ext cx="965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F7F3E8"/>
                </a:solidFill>
                <a:latin typeface="MiSans"/>
                <a:ea typeface="MiSans"/>
              </a:rPr>
              <a:t>难点知识解析</a:t>
            </a:r>
            <a:endParaRPr lang="en-US" sz="3000" noProof="1"/>
          </a:p>
        </p:txBody>
      </p:sp>
      <p:sp>
        <p:nvSpPr>
          <p:cNvPr id="5" name="desc"/>
          <p:cNvSpPr txBox="1"/>
          <p:nvPr/>
        </p:nvSpPr>
        <p:spPr>
          <a:xfrm>
            <a:off x="762000" y="3886200"/>
            <a:ext cx="10160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F7F3E8">
                    <a:alpha val="80000"/>
                  </a:srgbClr>
                </a:solidFill>
                <a:latin typeface="MiSans"/>
                <a:ea typeface="MiSans"/>
              </a:rPr>
              <a:t>本部分针对文中较难的知识点，结合知识库中的教材、指南与专家共识进行补充讲解：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F7F3E8">
                    <a:alpha val="80000"/>
                  </a:srgbClr>
                </a:solidFill>
                <a:latin typeface="MiSans"/>
                <a:ea typeface="MiSans"/>
              </a:rPr>
              <a:t>Utstein 模板与核心定义 ｜ 复苏期技术要点（按压/除颤/肾上腺素）｜ 复苏后综合征与 TTM</a:t>
            </a:r>
            <a:endParaRPr lang="en-US" sz="1300" noProof="1"/>
          </a:p>
          <a:p>
            <a:pPr>
              <a:lnSpc>
                <a:spcPct val="165000"/>
              </a:lnSpc>
            </a:pPr>
            <a:r>
              <a:rPr lang="en-US" sz="1300" noProof="1">
                <a:solidFill>
                  <a:srgbClr val="F7F3E8">
                    <a:alpha val="80000"/>
                  </a:srgbClr>
                </a:solidFill>
                <a:latin typeface="MiSans"/>
                <a:ea typeface="MiSans"/>
              </a:rPr>
              <a:t>神经预后评估与 ECPR ｜ 快速反应系统与 DNACPR</a:t>
            </a:r>
            <a:endParaRPr lang="en-US" sz="1300" noProof="1"/>
          </a:p>
        </p:txBody>
      </p:sp>
      <p:sp>
        <p:nvSpPr>
          <p:cNvPr id="6" name="kicker"/>
          <p:cNvSpPr txBox="1"/>
          <p:nvPr/>
        </p:nvSpPr>
        <p:spPr>
          <a:xfrm>
            <a:off x="762000" y="6096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300" kern="0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KNOWLEDGE DEEP-DIVE · 知识库补充</a:t>
            </a:r>
            <a:endParaRPr lang="en-US" sz="1000" noProof="1"/>
          </a:p>
        </p:txBody>
      </p:sp>
      <p:sp>
        <p:nvSpPr>
          <p:cNvPr id="7" name="pagenum"/>
          <p:cNvSpPr txBox="1"/>
          <p:nvPr/>
        </p:nvSpPr>
        <p:spPr>
          <a:xfrm>
            <a:off x="10541000" y="60960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14 / 25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03 · 难点知识解析 ①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15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Utstein 模板与核心定义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col1-h"/>
          <p:cNvSpPr txBox="1"/>
          <p:nvPr/>
        </p:nvSpPr>
        <p:spPr>
          <a:xfrm>
            <a:off x="762000" y="1270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什么是 Utstein 模板</a:t>
            </a:r>
            <a:endParaRPr lang="en-US" sz="1300" noProof="1"/>
          </a:p>
        </p:txBody>
      </p:sp>
      <p:sp>
        <p:nvSpPr>
          <p:cNvPr id="8" name="col1"/>
          <p:cNvSpPr txBox="1"/>
          <p:nvPr/>
        </p:nvSpPr>
        <p:spPr>
          <a:xfrm>
            <a:off x="762000" y="1600200"/>
            <a:ext cx="3302000" cy="43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1991 年由 ILCOR 在挪威 Utstein Abbey 确立的国际统一心脏骤停报告模板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目的：统一变量定义与报告口径，使不同国家/注册研究的数据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可横向比较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2019 年更新 IHCA 专用模板（Circulation 2019;140:e746）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四大部分：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患者特征 / 事件变量 / 救治流程 / 结局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本文发生率仅统计"接受 CPR 者"即为 Utstein 口径——与 2014 北京研究（全部骤停事件，17.5‰）不可直接比较</a:t>
            </a:r>
            <a:endParaRPr lang="en-US" sz="1150" noProof="1"/>
          </a:p>
        </p:txBody>
      </p:sp>
      <p:sp>
        <p:nvSpPr>
          <p:cNvPr id="9" name="col2-h"/>
          <p:cNvSpPr txBox="1"/>
          <p:nvPr/>
        </p:nvSpPr>
        <p:spPr>
          <a:xfrm>
            <a:off x="4445000" y="1270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本文核心操作性定义</a:t>
            </a:r>
            <a:endParaRPr lang="en-US" sz="1300" noProof="1"/>
          </a:p>
        </p:txBody>
      </p:sp>
      <p:sp>
        <p:nvSpPr>
          <p:cNvPr id="10" name="col2"/>
          <p:cNvSpPr txBox="1"/>
          <p:nvPr/>
        </p:nvSpPr>
        <p:spPr>
          <a:xfrm>
            <a:off x="4445000" y="1600200"/>
            <a:ext cx="3302000" cy="43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IHCA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：入院时有脉搏的住院患者，心脏机械活动突然停止（无脉搏、无反应、呼吸停止）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ROSC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：自主循环恢复——可触及脉搏/血压、动脉内出现自主压力波形；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PETCO₂ 突然升高是最早信号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持续 ROSC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：自主循环维持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≥20 min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（即我国质控标准中的"复苏成功"）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及时除颤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：心律识别后 ≤2 min 内首次电击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及时肾上腺素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：识别后 ≤5 min 内首剂 IV/IO 给药</a:t>
            </a:r>
            <a:endParaRPr lang="en-US" sz="1150" noProof="1"/>
          </a:p>
        </p:txBody>
      </p:sp>
      <p:sp>
        <p:nvSpPr>
          <p:cNvPr id="11" name="col3-h"/>
          <p:cNvSpPr txBox="1"/>
          <p:nvPr/>
        </p:nvSpPr>
        <p:spPr>
          <a:xfrm>
            <a:off x="8128000" y="1270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CPC 脑功能分级（1–5）</a:t>
            </a:r>
            <a:endParaRPr lang="en-US" sz="1300" noProof="1"/>
          </a:p>
        </p:txBody>
      </p:sp>
      <p:graphicFrame>
        <p:nvGraphicFramePr>
          <p:cNvPr id="12" name="cpc-tbl"/>
          <p:cNvGraphicFramePr>
            <a:graphicFrameLocks noGrp="1"/>
          </p:cNvGraphicFramePr>
          <p:nvPr/>
        </p:nvGraphicFramePr>
        <p:xfrm>
          <a:off x="8128000" y="1600200"/>
          <a:ext cx="3302000" cy="2667000"/>
        </p:xfrm>
        <a:graphic>
          <a:graphicData uri="http://schemas.openxmlformats.org/drawingml/2006/table">
            <a:tbl>
              <a:tblPr/>
              <a:tblGrid>
                <a:gridCol w="594360"/>
                <a:gridCol w="2707640"/>
              </a:tblGrid>
              <a:tr h="3200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分级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50" noProof="1" b="1">
                          <a:solidFill>
                            <a:srgbClr val="4A3448"/>
                          </a:solidFill>
                          <a:latin typeface="Times New Roman"/>
                          <a:ea typeface="Times New Roman"/>
                        </a:rPr>
                        <a:t>定义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良好：清醒，可工作与生活，或仅极轻神经障碍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轻度残疾：生活自理，可在保护环境下工作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重度残疾：清醒但需他人照料生活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昏迷/植物状态：对外界无反应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8CFC0"/>
                      </a:solidFill>
                    </a:lnB>
                    <a:noFill/>
                  </a:tcPr>
                </a:tc>
              </a:tr>
              <a:tr h="4693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27231F"/>
                          </a:solidFill>
                          <a:latin typeface="Times New Roman"/>
                          <a:ea typeface="Times New Roman"/>
                        </a:rPr>
                        <a:t>脑死亡/死亡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68476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cpc-note"/>
          <p:cNvSpPr txBox="1"/>
          <p:nvPr/>
        </p:nvSpPr>
        <p:spPr>
          <a:xfrm>
            <a:off x="8128000" y="4445000"/>
            <a:ext cx="3302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00" noProof="1" b="1">
                <a:solidFill>
                  <a:srgbClr val="27231F"/>
                </a:solidFill>
                <a:latin typeface="MiSans"/>
                <a:ea typeface="MiSans"/>
              </a:rPr>
              <a:t>CPC 1–2 = 神经功能预后良好</a:t>
            </a: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（本文主要神经学终点）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27231F"/>
                </a:solidFill>
                <a:latin typeface="MiSans"/>
                <a:ea typeface="MiSans"/>
              </a:rPr>
              <a:t>· 2018 年 ILCOR 建议以 mRS 替代 CPC（区分轻/中度障碍更敏感）</a:t>
            </a:r>
            <a:endParaRPr lang="en-US" sz="1100" noProof="1"/>
          </a:p>
        </p:txBody>
      </p:sp>
      <p:sp>
        <p:nvSpPr>
          <p:cNvPr id="14" name="source"/>
          <p:cNvSpPr txBox="1"/>
          <p:nvPr/>
        </p:nvSpPr>
        <p:spPr>
          <a:xfrm>
            <a:off x="762000" y="6502400"/>
            <a:ext cx="990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解析来源：临床医学教材（麻醉学/神经外科学，知识库）；Nolan JP, et al. Circulation. 2019;140:e746-e757；中国复苏中心质控指标共识（知识库）。</a:t>
            </a:r>
            <a:endParaRPr lang="en-US" sz="8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03 · 难点知识解析 ②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16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复苏期关键技术要点（指南与教材视角）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b1-h"/>
          <p:cNvSpPr txBox="1"/>
          <p:nvPr/>
        </p:nvSpPr>
        <p:spPr>
          <a:xfrm>
            <a:off x="762000" y="12700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可电击 vs 不可电击心律：策略分水岭</a:t>
            </a:r>
            <a:endParaRPr lang="en-US" sz="1300" noProof="1"/>
          </a:p>
        </p:txBody>
      </p:sp>
      <p:sp>
        <p:nvSpPr>
          <p:cNvPr id="8" name="b1"/>
          <p:cNvSpPr txBox="1"/>
          <p:nvPr/>
        </p:nvSpPr>
        <p:spPr>
          <a:xfrm>
            <a:off x="762000" y="1600200"/>
            <a:ext cx="5207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可电击（VF/pVT）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：电除颤是确定性治疗，早期 CPR + 迅速除颤显著提高存活率；除颤每延迟 1 min，存活率下降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7%–10%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不可电击（心搏停止/PEA）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：电除颤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无效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（无可终止的折返节律），依赖高质量按压 + 尽早肾上腺素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不可电击心律常提示更严重的电生理衰竭/泵衰竭，预后天然更差——解释了第 11 页 6 倍以上的存活差异</a:t>
            </a:r>
            <a:endParaRPr lang="en-US" sz="1150" noProof="1"/>
          </a:p>
        </p:txBody>
      </p:sp>
      <p:sp>
        <p:nvSpPr>
          <p:cNvPr id="9" name="b2-h"/>
          <p:cNvSpPr txBox="1"/>
          <p:nvPr/>
        </p:nvSpPr>
        <p:spPr>
          <a:xfrm>
            <a:off x="6477000" y="12700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高质量胸外按压（2025 AHA）</a:t>
            </a:r>
            <a:endParaRPr lang="en-US" sz="1300" noProof="1"/>
          </a:p>
        </p:txBody>
      </p:sp>
      <p:sp>
        <p:nvSpPr>
          <p:cNvPr id="10" name="b2"/>
          <p:cNvSpPr txBox="1"/>
          <p:nvPr/>
        </p:nvSpPr>
        <p:spPr>
          <a:xfrm>
            <a:off x="6477000" y="1600200"/>
            <a:ext cx="4953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频率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100–120 次/分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；深度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5–6 cm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；保证胸廓充分回弹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按压分数（CCF）≥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80%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，中断 &lt;10 s；每 2 min 轮换按压者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无高级气道 30:2；有高级气道后持续按压 + 每 6 s 通气 1 次（10 次/分），避免过度通气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持续 ETCO₂ 监测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评估按压质量；不常规推荐机械按压装置（本文使用 5.6%）</a:t>
            </a:r>
            <a:endParaRPr lang="en-US" sz="1150" noProof="1"/>
          </a:p>
        </p:txBody>
      </p:sp>
      <p:sp>
        <p:nvSpPr>
          <p:cNvPr id="11" name="mid-rule"/>
          <p:cNvSpPr/>
          <p:nvPr/>
        </p:nvSpPr>
        <p:spPr>
          <a:xfrm>
            <a:off x="762000" y="35814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12" name="b3-h"/>
          <p:cNvSpPr txBox="1"/>
          <p:nvPr/>
        </p:nvSpPr>
        <p:spPr>
          <a:xfrm>
            <a:off x="762000" y="37846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电除颤：原理与能量</a:t>
            </a:r>
            <a:endParaRPr lang="en-US" sz="1300" noProof="1"/>
          </a:p>
        </p:txBody>
      </p:sp>
      <p:sp>
        <p:nvSpPr>
          <p:cNvPr id="13" name="b3"/>
          <p:cNvSpPr txBox="1"/>
          <p:nvPr/>
        </p:nvSpPr>
        <p:spPr>
          <a:xfrm>
            <a:off x="762000" y="4114800"/>
            <a:ext cx="5207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原理：一定能量电流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终止室颤折返节律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（非"起搏"心脏），电击后立即恢复按压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双相波优于单相波：所需能量低、受胸壁阻抗影响小；成人双相波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120–200 J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（不熟悉设备默认 200 J）；单相波 360 J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单次电击策略，不堆叠电击；每 2 min 复评心律；细颤先给肾上腺素转粗颤再除颤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对照本文：可电击心律及时除颤率 71.4%，普通病房最低——设备可及性是系统短板</a:t>
            </a:r>
            <a:endParaRPr lang="en-US" sz="1150" noProof="1"/>
          </a:p>
        </p:txBody>
      </p:sp>
      <p:sp>
        <p:nvSpPr>
          <p:cNvPr id="14" name="b4-h"/>
          <p:cNvSpPr txBox="1"/>
          <p:nvPr/>
        </p:nvSpPr>
        <p:spPr>
          <a:xfrm>
            <a:off x="6477000" y="37846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肾上腺素：机制、剂量与时机</a:t>
            </a:r>
            <a:endParaRPr lang="en-US" sz="1300" noProof="1"/>
          </a:p>
        </p:txBody>
      </p:sp>
      <p:sp>
        <p:nvSpPr>
          <p:cNvPr id="15" name="b4"/>
          <p:cNvSpPr txBox="1"/>
          <p:nvPr/>
        </p:nvSpPr>
        <p:spPr>
          <a:xfrm>
            <a:off x="6477000" y="41148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机制：激动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α 受体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收缩外周血管→升高舒张压与冠脉/脑灌注压；使细颤转粗颤、提高除颤成功率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剂量：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1 mg IV/IO，每 3–5 min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（I 类）；递增剂量无获益；2025 版强调 IV 优先、IO 备选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时机：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不可电击心律尽早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（本文 ≤5 min 达标率 84.4%）；可电击心律首次除颤失败后给予；血管加压素不再推荐</a:t>
            </a:r>
            <a:endParaRPr lang="en-US" sz="1150" noProof="1"/>
          </a:p>
        </p:txBody>
      </p:sp>
      <p:sp>
        <p:nvSpPr>
          <p:cNvPr id="16" name="source"/>
          <p:cNvSpPr txBox="1"/>
          <p:nvPr/>
        </p:nvSpPr>
        <p:spPr>
          <a:xfrm>
            <a:off x="762000" y="6502400"/>
            <a:ext cx="990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解析来源：2025 AHA CPR/ECC 指南 Part 9（知识库联网核实）；临床医学教材（知识库）。</a:t>
            </a:r>
            <a:endParaRPr lang="en-US" sz="8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03 · 难点知识解析 ③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17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复苏后综合征（PCAS）与目标温度管理（TTM）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left-h"/>
          <p:cNvSpPr txBox="1"/>
          <p:nvPr/>
        </p:nvSpPr>
        <p:spPr>
          <a:xfrm>
            <a:off x="762000" y="12700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PCAS 四大病理损伤（ILCOR 2008 命名）</a:t>
            </a:r>
            <a:endParaRPr lang="en-US" sz="1300" noProof="1"/>
          </a:p>
        </p:txBody>
      </p:sp>
      <p:sp>
        <p:nvSpPr>
          <p:cNvPr id="8" name="left"/>
          <p:cNvSpPr txBox="1"/>
          <p:nvPr/>
        </p:nvSpPr>
        <p:spPr>
          <a:xfrm>
            <a:off x="762000" y="1600200"/>
            <a:ext cx="5207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① 脑损伤（HIBI）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：发生率最高，决定神经预后。缺血期 ATP 耗竭→钙超载、细胞水肿；再灌注期氧供/耗失衡、自由基损伤——"双重打击"，海马/皮质等高代谢区最重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② 心肌功能障碍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：复苏后心肌顿抑与收缩功能障碍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③ 全身缺血-再灌注损伤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：交感兴奋、炎症介质释放、内皮损伤与微循环血栓→SIRS、无复流现象，可致 MODS/DIC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④ 持续致病病因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：ACS、肺栓塞、脓毒症、中毒等未纠正，持续驱动病程</a:t>
            </a:r>
            <a:endParaRPr lang="en-US" sz="1150" noProof="1"/>
          </a:p>
        </p:txBody>
      </p:sp>
      <p:sp>
        <p:nvSpPr>
          <p:cNvPr id="9" name="left-callout"/>
          <p:cNvSpPr/>
          <p:nvPr/>
        </p:nvSpPr>
        <p:spPr>
          <a:xfrm>
            <a:off x="762000" y="4953000"/>
            <a:ext cx="5207000" cy="889000"/>
          </a:xfrm>
          <a:prstGeom prst="rect">
            <a:avLst/>
          </a:prstGeom>
          <a:solidFill>
            <a:srgbClr val="EFE9DB"/>
          </a:solidFill>
          <a:ln>
            <a:noFill/>
          </a:ln>
        </p:spPr>
      </p:sp>
      <p:sp>
        <p:nvSpPr>
          <p:cNvPr id="10" name="left-callout-bar"/>
          <p:cNvSpPr/>
          <p:nvPr/>
        </p:nvSpPr>
        <p:spPr>
          <a:xfrm>
            <a:off x="762000" y="4953000"/>
            <a:ext cx="50800" cy="8890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11" name="left-callout-t"/>
          <p:cNvSpPr txBox="1"/>
          <p:nvPr/>
        </p:nvSpPr>
        <p:spPr>
          <a:xfrm>
            <a:off x="990600" y="50546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PCAS 是"复苏后死亡集中发生"的机制基础——本文中 ROSC 到存活出院的巨大落差（35.2% → 9.1%）主要消耗于此阶段。</a:t>
            </a:r>
            <a:endParaRPr lang="en-US" sz="1150" noProof="1"/>
          </a:p>
        </p:txBody>
      </p:sp>
      <p:sp>
        <p:nvSpPr>
          <p:cNvPr id="12" name="vline"/>
          <p:cNvSpPr/>
          <p:nvPr/>
        </p:nvSpPr>
        <p:spPr>
          <a:xfrm>
            <a:off x="6223000" y="1397000"/>
            <a:ext cx="12700" cy="44450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13" name="right-h"/>
          <p:cNvSpPr txBox="1"/>
          <p:nvPr/>
        </p:nvSpPr>
        <p:spPr>
          <a:xfrm>
            <a:off x="6477000" y="12700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TTM 实施方案（知识库指南要点）</a:t>
            </a:r>
            <a:endParaRPr lang="en-US" sz="1300" noProof="1"/>
          </a:p>
        </p:txBody>
      </p:sp>
      <p:sp>
        <p:nvSpPr>
          <p:cNvPr id="14" name="right"/>
          <p:cNvSpPr txBox="1"/>
          <p:nvPr/>
        </p:nvSpPr>
        <p:spPr>
          <a:xfrm>
            <a:off x="6477000" y="1600200"/>
            <a:ext cx="4953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适应证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：ROSC 后仍昏迷者，无论 OHCA/IHCA、无论初始心律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目标温度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：中国共识 32–36 ℃ 选定恒定温度；2025 AHA 为 32–37.5 ℃ 至少 36 h，理念转向"积极防发热"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维持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：达标后 ≥24 h（部分指南 36 h）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复温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：0.25 ℃/h；复温后维持 &lt;37.5 ℃ 至少 72 h，防止发热反弹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寒战管理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：丙泊酚/右美托咪定/阿片类；避免哌替啶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禁忌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：既有 DNR、妊娠、活动性出血、终末期疾病等</a:t>
            </a:r>
            <a:endParaRPr lang="en-US" sz="1150" noProof="1"/>
          </a:p>
        </p:txBody>
      </p:sp>
      <p:sp>
        <p:nvSpPr>
          <p:cNvPr id="15" name="gap-box"/>
          <p:cNvSpPr/>
          <p:nvPr/>
        </p:nvSpPr>
        <p:spPr>
          <a:xfrm>
            <a:off x="6477000" y="4953000"/>
            <a:ext cx="4953000" cy="889000"/>
          </a:xfrm>
          <a:prstGeom prst="rect">
            <a:avLst/>
          </a:prstGeom>
          <a:solidFill>
            <a:srgbClr val="C9828B">
              <a:alpha val="14902"/>
            </a:srgbClr>
          </a:solidFill>
          <a:ln>
            <a:noFill/>
          </a:ln>
        </p:spPr>
      </p:sp>
      <p:sp>
        <p:nvSpPr>
          <p:cNvPr id="16" name="gap-box-bar"/>
          <p:cNvSpPr/>
          <p:nvPr/>
        </p:nvSpPr>
        <p:spPr>
          <a:xfrm>
            <a:off x="6477000" y="4953000"/>
            <a:ext cx="50800" cy="889000"/>
          </a:xfrm>
          <a:prstGeom prst="rect">
            <a:avLst/>
          </a:prstGeom>
          <a:solidFill>
            <a:srgbClr val="C9828B"/>
          </a:solidFill>
          <a:ln>
            <a:noFill/>
          </a:ln>
        </p:spPr>
      </p:sp>
      <p:sp>
        <p:nvSpPr>
          <p:cNvPr id="17" name="gap-box-t"/>
          <p:cNvSpPr txBox="1"/>
          <p:nvPr/>
        </p:nvSpPr>
        <p:spPr>
          <a:xfrm>
            <a:off x="6705600" y="505460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C9828B"/>
                </a:solidFill>
                <a:latin typeface="MiSans"/>
                <a:ea typeface="MiSans"/>
              </a:rPr>
              <a:t>现实差距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：本文持续 ROSC 患者中规范 TTM 实施率仅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0.8%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——指南推荐与低资源场景落地之间存在巨大鸿沟。</a:t>
            </a:r>
            <a:endParaRPr lang="en-US" sz="1150" noProof="1"/>
          </a:p>
        </p:txBody>
      </p:sp>
      <p:sp>
        <p:nvSpPr>
          <p:cNvPr id="18" name="source"/>
          <p:cNvSpPr txBox="1"/>
          <p:nvPr/>
        </p:nvSpPr>
        <p:spPr>
          <a:xfrm>
            <a:off x="762000" y="6502400"/>
            <a:ext cx="990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解析来源：青禾重症知识库（ILCOR/ERC/ESICM 体温控制指南、2025 AHA 指南、中国专家共识）。</a:t>
            </a:r>
            <a:endParaRPr lang="en-US" sz="8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03 · 难点知识解析 ④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18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神经功能预后评估与 ECPR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left-h"/>
          <p:cNvSpPr txBox="1"/>
          <p:nvPr/>
        </p:nvSpPr>
        <p:spPr>
          <a:xfrm>
            <a:off x="762000" y="12700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多模态神经预后评估（ROSC/复温后 ≥72 h）</a:t>
            </a:r>
            <a:endParaRPr lang="en-US" sz="1300" noProof="1"/>
          </a:p>
        </p:txBody>
      </p:sp>
      <p:sp>
        <p:nvSpPr>
          <p:cNvPr id="8" name="left"/>
          <p:cNvSpPr txBox="1"/>
          <p:nvPr/>
        </p:nvSpPr>
        <p:spPr>
          <a:xfrm>
            <a:off x="762000" y="1600200"/>
            <a:ext cx="5207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原则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：任何单一指标均可能假阳性，需多模态联合，并避免"自我实现预言"（ WLST 时机过早早致预后自证）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脑电图 EEG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：筛查惊厥/非惊厥性癫痫；恶性模式（爆发-抑制、广泛抑制 &lt;10 μV、周期性放电）预测不良预后；12–24 h 内转为连续正常电压背景提示预后良好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SSEP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：双侧 N20 皮层反应缺失预测不良预后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NSE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：48–72 h &gt;60 μg/L 预测不良预后（特异性 95%–100%）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S100B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：特异高而敏感性极低，未增加预测价值，未入指南推荐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与本文关联：出院者 CPC 1–2 占多数（7.1%/9.1%），且出院后 1 年存活 66.8%——支持"存活者预后不差"</a:t>
            </a:r>
            <a:endParaRPr lang="en-US" sz="1150" noProof="1"/>
          </a:p>
        </p:txBody>
      </p:sp>
      <p:sp>
        <p:nvSpPr>
          <p:cNvPr id="9" name="vline"/>
          <p:cNvSpPr/>
          <p:nvPr/>
        </p:nvSpPr>
        <p:spPr>
          <a:xfrm>
            <a:off x="6223000" y="1397000"/>
            <a:ext cx="12700" cy="43942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10" name="right-h"/>
          <p:cNvSpPr txBox="1"/>
          <p:nvPr/>
        </p:nvSpPr>
        <p:spPr>
          <a:xfrm>
            <a:off x="6477000" y="12700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体外心肺复苏（ECPR）适应证</a:t>
            </a:r>
            <a:endParaRPr lang="en-US" sz="1300" noProof="1"/>
          </a:p>
        </p:txBody>
      </p:sp>
      <p:sp>
        <p:nvSpPr>
          <p:cNvPr id="11" name="right"/>
          <p:cNvSpPr txBox="1"/>
          <p:nvPr/>
        </p:nvSpPr>
        <p:spPr>
          <a:xfrm>
            <a:off x="6477000" y="1600200"/>
            <a:ext cx="4953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（成人院内 ECPR 临床实践流程专家共识）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年龄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&lt;70 岁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（脏器功能好、神经预后佳者可放宽）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目击骤停 + 旁观者按压，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无灌注时间 &lt;5 min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初始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可电击心律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可逆病因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：心源性、肺栓塞、严重低温、药物中毒等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低灌注时间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&lt;60 min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CCPR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20 min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无 ROSC / 血流动力学不稳（ELSO：10–20 min 尝试失败后启动合理）</a:t>
            </a:r>
            <a:endParaRPr lang="en-US" sz="1150" noProof="1"/>
          </a:p>
        </p:txBody>
      </p:sp>
      <p:sp>
        <p:nvSpPr>
          <p:cNvPr id="12" name="right-note"/>
          <p:cNvSpPr txBox="1"/>
          <p:nvPr/>
        </p:nvSpPr>
        <p:spPr>
          <a:xfrm>
            <a:off x="6477000" y="4775200"/>
            <a:ext cx="4953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9B9489"/>
                </a:solidFill>
                <a:latin typeface="MiSans"/>
                <a:ea typeface="MiSans"/>
              </a:rPr>
              <a:t>· 相对禁忌：骤停前严重神经疾病/终末期疾病、血管通路受限、抗凝禁忌、严重主动脉瓣反流、左室血栓等</a:t>
            </a:r>
            <a:endParaRPr lang="en-US" sz="11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100" noProof="1">
                <a:solidFill>
                  <a:srgbClr val="9B9489"/>
                </a:solidFill>
                <a:latin typeface="MiSans"/>
                <a:ea typeface="MiSans"/>
              </a:rPr>
              <a:t>· 本文 ECPR 仅 55 例（0.3%）——ECPR 在 IHCA 中的获益证据较 OHCA 更一致，但对组织化程度要求极高</a:t>
            </a:r>
            <a:endParaRPr lang="en-US" sz="1100" noProof="1"/>
          </a:p>
        </p:txBody>
      </p:sp>
      <p:sp>
        <p:nvSpPr>
          <p:cNvPr id="13" name="source"/>
          <p:cNvSpPr txBox="1"/>
          <p:nvPr/>
        </p:nvSpPr>
        <p:spPr>
          <a:xfrm>
            <a:off x="762000" y="6502400"/>
            <a:ext cx="990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解析来源：青禾重症知识库（成人院内 ECPR 专家共识、ERC/ESICM 2025 神经预后指南、中国专家共识）。</a:t>
            </a:r>
            <a:endParaRPr lang="en-US" sz="85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03 · 难点知识解析 ⑤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19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制度短板：快速反应系统与 DNACPR 文化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left-h"/>
          <p:cNvSpPr txBox="1"/>
          <p:nvPr/>
        </p:nvSpPr>
        <p:spPr>
          <a:xfrm>
            <a:off x="762000" y="12700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快速反应系统（RRT）</a:t>
            </a:r>
            <a:endParaRPr lang="en-US" sz="1300" noProof="1"/>
          </a:p>
        </p:txBody>
      </p:sp>
      <p:sp>
        <p:nvSpPr>
          <p:cNvPr id="8" name="left"/>
          <p:cNvSpPr txBox="1"/>
          <p:nvPr/>
        </p:nvSpPr>
        <p:spPr>
          <a:xfrm>
            <a:off x="762000" y="1600200"/>
            <a:ext cx="5207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定位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：对病情恶化住院患者提前预警、早期干预——在心搏骤停</a:t>
            </a:r>
            <a:r>
              <a:rPr lang="en-US" sz="1150" noProof="1" i="1">
                <a:solidFill>
                  <a:srgbClr val="27231F"/>
                </a:solidFill>
                <a:latin typeface="MiSans"/>
                <a:ea typeface="MiSans"/>
              </a:rPr>
              <a:t>之前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行动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中国共识三级架构：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科室 RRT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（基本生命支持）→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片区 RRT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（10 min 内到达）→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院级 RRT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（高级生命支持/ECPR/复苏后序贯治疗），由急诊、重症、麻醉等多学科组成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启动标准可参考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MEWS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（WS/T 810-2022）：≥9 分极高危、5–9 分高危；气道阻塞、新发呼吸困难/SpO₂ 异常等单项即触发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SCCM 2023：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强推荐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部署 RRT/MET 并制定明确启动标准，响应者应包含引出治疗目标的成员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对照本文：仅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3/40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家医院有结构化 RRS——普通病房及时除颤率最低的系统根源</a:t>
            </a:r>
            <a:endParaRPr lang="en-US" sz="1150" noProof="1"/>
          </a:p>
        </p:txBody>
      </p:sp>
      <p:sp>
        <p:nvSpPr>
          <p:cNvPr id="9" name="vline"/>
          <p:cNvSpPr/>
          <p:nvPr/>
        </p:nvSpPr>
        <p:spPr>
          <a:xfrm>
            <a:off x="6223000" y="1397000"/>
            <a:ext cx="12700" cy="43942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10" name="right-h"/>
          <p:cNvSpPr txBox="1"/>
          <p:nvPr/>
        </p:nvSpPr>
        <p:spPr>
          <a:xfrm>
            <a:off x="6477000" y="12700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684765"/>
                </a:solidFill>
                <a:latin typeface="MiSans"/>
                <a:ea typeface="MiSans"/>
              </a:rPr>
              <a:t>DNACPR 与家属决策文化</a:t>
            </a:r>
            <a:endParaRPr lang="en-US" sz="1300" noProof="1"/>
          </a:p>
        </p:txBody>
      </p:sp>
      <p:sp>
        <p:nvSpPr>
          <p:cNvPr id="11" name="right"/>
          <p:cNvSpPr txBox="1"/>
          <p:nvPr/>
        </p:nvSpPr>
        <p:spPr>
          <a:xfrm>
            <a:off x="6477000" y="1600200"/>
            <a:ext cx="4953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DNACPR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（不尝试复苏医嘱）：一种医学命令 + 伦理文件，执行依据为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患者自主权 + 不伤害原则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；患者意愿不明时按常规 CPR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中国现状：正式 DNACPR 罕见、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家属中心决策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占主导，多在病情快速恶化时仓促决定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对统计学的双向影响：家属期望→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无效复苏增加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（CPR 尝试率仅 54.4%，但分母中纳入更多无获益者）；预后/费用顾虑→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可救治者过早撤治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（分子减小）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这也是中国存活率与西方注册研究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不可直接比较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的原因之一</a:t>
            </a:r>
            <a:endParaRPr lang="en-US" sz="115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改进方向：文化适配的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预立医疗照护计划（ACP）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 + 循证 ICU 分级收治路径，让复苏决策与患者目标一致</a:t>
            </a:r>
            <a:endParaRPr lang="en-US" sz="1150" noProof="1"/>
          </a:p>
        </p:txBody>
      </p:sp>
      <p:sp>
        <p:nvSpPr>
          <p:cNvPr id="12" name="source"/>
          <p:cNvSpPr txBox="1"/>
          <p:nvPr/>
        </p:nvSpPr>
        <p:spPr>
          <a:xfrm>
            <a:off x="762000" y="6502400"/>
            <a:ext cx="990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解析来源：知识库《复苏中心建设与管理急诊专家共识》《中国老年心肺复苏急诊专家共识》（中国老年CPR共识）WS/T 810-2022、SCCM 2023 指南。</a:t>
            </a:r>
            <a:endParaRPr lang="en-US" sz="85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684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 txBox="1"/>
          <p:nvPr/>
        </p:nvSpPr>
        <p:spPr>
          <a:xfrm>
            <a:off x="762000" y="1524000"/>
            <a:ext cx="254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6400" noProof="1" b="1">
                <a:solidFill>
                  <a:srgbClr val="F7F3E8"/>
                </a:solidFill>
                <a:latin typeface="MiSans"/>
                <a:ea typeface="MiSans"/>
              </a:rPr>
              <a:t>04</a:t>
            </a:r>
            <a:endParaRPr lang="en-US" sz="6400" noProof="1"/>
          </a:p>
        </p:txBody>
      </p:sp>
      <p:sp>
        <p:nvSpPr>
          <p:cNvPr id="3" name="tick"/>
          <p:cNvSpPr/>
          <p:nvPr/>
        </p:nvSpPr>
        <p:spPr>
          <a:xfrm>
            <a:off x="762000" y="2844800"/>
            <a:ext cx="762000" cy="50800"/>
          </a:xfrm>
          <a:prstGeom prst="rect">
            <a:avLst/>
          </a:prstGeom>
          <a:solidFill>
            <a:srgbClr val="C9828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62000" y="3175000"/>
            <a:ext cx="889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F7F3E8"/>
                </a:solidFill>
                <a:latin typeface="MiSans"/>
                <a:ea typeface="MiSans"/>
              </a:rPr>
              <a:t>讨论与启示</a:t>
            </a:r>
            <a:endParaRPr lang="en-US" sz="3000" noProof="1"/>
          </a:p>
        </p:txBody>
      </p:sp>
      <p:sp>
        <p:nvSpPr>
          <p:cNvPr id="5" name="desc"/>
          <p:cNvSpPr txBox="1"/>
          <p:nvPr/>
        </p:nvSpPr>
        <p:spPr>
          <a:xfrm>
            <a:off x="762000" y="40640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F7F3E8">
                    <a:alpha val="80000"/>
                  </a:srgbClr>
                </a:solidFill>
                <a:latin typeface="MiSans"/>
                <a:ea typeface="MiSans"/>
              </a:rPr>
              <a:t>回到三个研究问题：负担多沉重？差距在哪里？系统如何改进？——以及对我们 ICU 日常实践的具体启示。</a:t>
            </a:r>
            <a:endParaRPr lang="en-US" sz="1300" noProof="1"/>
          </a:p>
        </p:txBody>
      </p:sp>
      <p:sp>
        <p:nvSpPr>
          <p:cNvPr id="6" name="kicker"/>
          <p:cNvSpPr txBox="1"/>
          <p:nvPr/>
        </p:nvSpPr>
        <p:spPr>
          <a:xfrm>
            <a:off x="762000" y="6096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300" kern="0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DISCUSSION &amp; IMPLICATIONS</a:t>
            </a:r>
            <a:endParaRPr lang="en-US" sz="1000" noProof="1"/>
          </a:p>
        </p:txBody>
      </p:sp>
      <p:sp>
        <p:nvSpPr>
          <p:cNvPr id="7" name="pagenum"/>
          <p:cNvSpPr txBox="1"/>
          <p:nvPr/>
        </p:nvSpPr>
        <p:spPr>
          <a:xfrm>
            <a:off x="10541000" y="60960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20 / 25</a:t>
            </a:r>
            <a:endParaRPr lang="en-US" sz="10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04 · 讨论与启示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21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主要结论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c1-n"/>
          <p:cNvSpPr txBox="1"/>
          <p:nvPr/>
        </p:nvSpPr>
        <p:spPr>
          <a:xfrm>
            <a:off x="762000" y="13335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684765"/>
                </a:solidFill>
                <a:latin typeface="MiSans"/>
                <a:ea typeface="MiSans"/>
              </a:rPr>
              <a:t>01</a:t>
            </a:r>
            <a:endParaRPr lang="en-US" sz="1800" noProof="1"/>
          </a:p>
        </p:txBody>
      </p:sp>
      <p:sp>
        <p:nvSpPr>
          <p:cNvPr id="8" name="c1"/>
          <p:cNvSpPr txBox="1"/>
          <p:nvPr/>
        </p:nvSpPr>
        <p:spPr>
          <a:xfrm>
            <a:off x="1460500" y="1333500"/>
            <a:ext cx="996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疾病负担沉重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：发生率 4.1/1000 入院，按 2.27 亿年住院人次估算，中国每年约 </a:t>
            </a: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93 万例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成人 IHCA。</a:t>
            </a:r>
            <a:endParaRPr lang="en-US" sz="1250" noProof="1"/>
          </a:p>
        </p:txBody>
      </p:sp>
      <p:sp>
        <p:nvSpPr>
          <p:cNvPr id="9" name="c2-n"/>
          <p:cNvSpPr txBox="1"/>
          <p:nvPr/>
        </p:nvSpPr>
        <p:spPr>
          <a:xfrm>
            <a:off x="762000" y="21336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684765"/>
                </a:solidFill>
                <a:latin typeface="MiSans"/>
                <a:ea typeface="MiSans"/>
              </a:rPr>
              <a:t>02</a:t>
            </a:r>
            <a:endParaRPr lang="en-US" sz="1800" noProof="1"/>
          </a:p>
        </p:txBody>
      </p:sp>
      <p:sp>
        <p:nvSpPr>
          <p:cNvPr id="10" name="c2"/>
          <p:cNvSpPr txBox="1"/>
          <p:nvPr/>
        </p:nvSpPr>
        <p:spPr>
          <a:xfrm>
            <a:off x="1460500" y="2133600"/>
            <a:ext cx="996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初始反应迅速但未转化为存活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：95.9% 于 1 min 内启动复苏，但 30 天存活/出院仅 9.1%，远低于高收入国家（18.4%–35.6%）。</a:t>
            </a:r>
            <a:endParaRPr lang="en-US" sz="1250" noProof="1"/>
          </a:p>
        </p:txBody>
      </p:sp>
      <p:sp>
        <p:nvSpPr>
          <p:cNvPr id="11" name="c3-n"/>
          <p:cNvSpPr txBox="1"/>
          <p:nvPr/>
        </p:nvSpPr>
        <p:spPr>
          <a:xfrm>
            <a:off x="762000" y="29337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684765"/>
                </a:solidFill>
                <a:latin typeface="MiSans"/>
                <a:ea typeface="MiSans"/>
              </a:rPr>
              <a:t>03</a:t>
            </a:r>
            <a:endParaRPr lang="en-US" sz="1800" noProof="1"/>
          </a:p>
        </p:txBody>
      </p:sp>
      <p:sp>
        <p:nvSpPr>
          <p:cNvPr id="12" name="c3"/>
          <p:cNvSpPr txBox="1"/>
          <p:nvPr/>
        </p:nvSpPr>
        <p:spPr>
          <a:xfrm>
            <a:off x="1460500" y="2933700"/>
            <a:ext cx="996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复苏后救治缺口突出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：温度控制 3.6%（TTM 0.8%）、冠脉造影 5.2%、PCI 4.3%，各环节均显著低于国际水平。</a:t>
            </a:r>
            <a:endParaRPr lang="en-US" sz="1250" noProof="1"/>
          </a:p>
        </p:txBody>
      </p:sp>
      <p:sp>
        <p:nvSpPr>
          <p:cNvPr id="13" name="c4-n"/>
          <p:cNvSpPr txBox="1"/>
          <p:nvPr/>
        </p:nvSpPr>
        <p:spPr>
          <a:xfrm>
            <a:off x="762000" y="37338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684765"/>
                </a:solidFill>
                <a:latin typeface="MiSans"/>
                <a:ea typeface="MiSans"/>
              </a:rPr>
              <a:t>04</a:t>
            </a:r>
            <a:endParaRPr lang="en-US" sz="1800" noProof="1"/>
          </a:p>
        </p:txBody>
      </p:sp>
      <p:sp>
        <p:nvSpPr>
          <p:cNvPr id="14" name="c4"/>
          <p:cNvSpPr txBox="1"/>
          <p:nvPr/>
        </p:nvSpPr>
        <p:spPr>
          <a:xfrm>
            <a:off x="1460500" y="3733800"/>
            <a:ext cx="996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死亡集中于骤停后早期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：出院者长期预后与 HIC 相当（1 年存活 66.8%）——复苏后重症救治体系是决定总体存活的关键杠杆。</a:t>
            </a:r>
            <a:endParaRPr lang="en-US" sz="1250" noProof="1"/>
          </a:p>
        </p:txBody>
      </p:sp>
      <p:sp>
        <p:nvSpPr>
          <p:cNvPr id="15" name="c5-n"/>
          <p:cNvSpPr txBox="1"/>
          <p:nvPr/>
        </p:nvSpPr>
        <p:spPr>
          <a:xfrm>
            <a:off x="762000" y="45339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684765"/>
                </a:solidFill>
                <a:latin typeface="MiSans"/>
                <a:ea typeface="MiSans"/>
              </a:rPr>
              <a:t>05</a:t>
            </a:r>
            <a:endParaRPr lang="en-US" sz="1800" noProof="1"/>
          </a:p>
        </p:txBody>
      </p:sp>
      <p:sp>
        <p:nvSpPr>
          <p:cNvPr id="16" name="c5"/>
          <p:cNvSpPr txBox="1"/>
          <p:nvPr/>
        </p:nvSpPr>
        <p:spPr>
          <a:xfrm>
            <a:off x="1460500" y="4533900"/>
            <a:ext cx="996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系统与文化因素塑造统计数字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：RRT 覆盖不足、DNACPR 罕见、家属中心决策同时影响 CPR 尝试率（分母）与存活者数（分子）。</a:t>
            </a:r>
            <a:endParaRPr lang="en-US" sz="1250" noProof="1"/>
          </a:p>
        </p:txBody>
      </p:sp>
      <p:sp>
        <p:nvSpPr>
          <p:cNvPr id="17" name="c6-n"/>
          <p:cNvSpPr txBox="1"/>
          <p:nvPr/>
        </p:nvSpPr>
        <p:spPr>
          <a:xfrm>
            <a:off x="762000" y="53340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684765"/>
                </a:solidFill>
                <a:latin typeface="MiSans"/>
                <a:ea typeface="MiSans"/>
              </a:rPr>
              <a:t>06</a:t>
            </a:r>
            <a:endParaRPr lang="en-US" sz="1800" noProof="1"/>
          </a:p>
        </p:txBody>
      </p:sp>
      <p:sp>
        <p:nvSpPr>
          <p:cNvPr id="18" name="c6"/>
          <p:cNvSpPr txBox="1"/>
          <p:nvPr/>
        </p:nvSpPr>
        <p:spPr>
          <a:xfrm>
            <a:off x="1460500" y="5334000"/>
            <a:ext cx="996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7231F"/>
                </a:solidFill>
                <a:latin typeface="MiSans"/>
                <a:ea typeface="MiSans"/>
              </a:rPr>
              <a:t>改进路径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：结构化院内响应系统 + 重症资源优化配置 + 文化适配的预立医疗照护计划（ACP）。</a:t>
            </a:r>
            <a:endParaRPr lang="en-US" sz="1250" noProof="1"/>
          </a:p>
        </p:txBody>
      </p:sp>
      <p:sp>
        <p:nvSpPr>
          <p:cNvPr id="19" name="quote-rule"/>
          <p:cNvSpPr/>
          <p:nvPr/>
        </p:nvSpPr>
        <p:spPr>
          <a:xfrm>
            <a:off x="762000" y="60706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20" name="quote"/>
          <p:cNvSpPr txBox="1"/>
          <p:nvPr/>
        </p:nvSpPr>
        <p:spPr>
          <a:xfrm>
            <a:off x="762000" y="6172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i="1">
                <a:solidFill>
                  <a:srgbClr val="4A3448"/>
                </a:solidFill>
                <a:latin typeface="MiSans"/>
                <a:ea typeface="MiSans"/>
              </a:rPr>
              <a:t>"Improving survival requires attention to postresuscitation critical care and structured response systems in addition to rapid initial response."</a:t>
            </a:r>
            <a:r>
              <a:rPr lang="en-US" sz="1150" noProof="1">
                <a:solidFill>
                  <a:srgbClr val="4A3448"/>
                </a:solidFill>
                <a:latin typeface="MiSans"/>
                <a:ea typeface="MiSans"/>
              </a:rPr>
              <a:t> —— 本文 Clinical Perspective</a:t>
            </a:r>
            <a:endParaRPr lang="en-US" sz="1150" noProof="1"/>
          </a:p>
        </p:txBody>
      </p:sp>
      <p:sp>
        <p:nvSpPr>
          <p:cNvPr id="21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2026（结论与 Clinical Perspective 部分）。</a:t>
            </a:r>
            <a:endParaRPr lang="en-US" sz="85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04 · 讨论与启示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22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研究局限性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l1-h"/>
          <p:cNvSpPr txBox="1"/>
          <p:nvPr/>
        </p:nvSpPr>
        <p:spPr>
          <a:xfrm>
            <a:off x="762000" y="13970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684765"/>
                </a:solidFill>
                <a:latin typeface="MiSans"/>
                <a:ea typeface="MiSans"/>
              </a:rPr>
              <a:t>代表性</a:t>
            </a:r>
            <a:endParaRPr lang="en-US" sz="1500" noProof="1"/>
          </a:p>
        </p:txBody>
      </p:sp>
      <p:sp>
        <p:nvSpPr>
          <p:cNvPr id="8" name="l1"/>
          <p:cNvSpPr txBox="1"/>
          <p:nvPr/>
        </p:nvSpPr>
        <p:spPr>
          <a:xfrm>
            <a:off x="762000" y="1803400"/>
            <a:ext cx="3302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覆盖 7 大地理区域、含县级医院，但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以城市医院为主、非概率抽样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小型农村医院代表性不足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应解读为"广覆盖注册数据"，而非全国代表性估计</a:t>
            </a:r>
            <a:endParaRPr lang="en-US" sz="1150" noProof="1"/>
          </a:p>
        </p:txBody>
      </p:sp>
      <p:sp>
        <p:nvSpPr>
          <p:cNvPr id="9" name="l2-h"/>
          <p:cNvSpPr txBox="1"/>
          <p:nvPr/>
        </p:nvSpPr>
        <p:spPr>
          <a:xfrm>
            <a:off x="4445000" y="13970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684765"/>
                </a:solidFill>
                <a:latin typeface="MiSans"/>
                <a:ea typeface="MiSans"/>
              </a:rPr>
              <a:t>数据质量</a:t>
            </a:r>
            <a:endParaRPr lang="en-US" sz="1500" noProof="1"/>
          </a:p>
        </p:txBody>
      </p:sp>
      <p:sp>
        <p:nvSpPr>
          <p:cNvPr id="10" name="l2"/>
          <p:cNvSpPr txBox="1"/>
          <p:nvPr/>
        </p:nvSpPr>
        <p:spPr>
          <a:xfrm>
            <a:off x="4445000" y="1803400"/>
            <a:ext cx="3302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客观按压反馈装置使用少，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CPR 质量数据缺失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，无法评估技术操作对存活的影响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Utstein 变量之外的救治细节（如按压深度/频率、给药途径）记录有限</a:t>
            </a:r>
            <a:endParaRPr lang="en-US" sz="1150" noProof="1"/>
          </a:p>
        </p:txBody>
      </p:sp>
      <p:sp>
        <p:nvSpPr>
          <p:cNvPr id="11" name="l3-h"/>
          <p:cNvSpPr txBox="1"/>
          <p:nvPr/>
        </p:nvSpPr>
        <p:spPr>
          <a:xfrm>
            <a:off x="8128000" y="13970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684765"/>
                </a:solidFill>
                <a:latin typeface="MiSans"/>
                <a:ea typeface="MiSans"/>
              </a:rPr>
              <a:t>时间因素</a:t>
            </a:r>
            <a:endParaRPr lang="en-US" sz="1500" noProof="1"/>
          </a:p>
        </p:txBody>
      </p:sp>
      <p:sp>
        <p:nvSpPr>
          <p:cNvPr id="12" name="l3"/>
          <p:cNvSpPr txBox="1"/>
          <p:nvPr/>
        </p:nvSpPr>
        <p:spPr>
          <a:xfrm>
            <a:off x="8128000" y="1803400"/>
            <a:ext cx="3302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研究期与 </a:t>
            </a:r>
            <a:r>
              <a:rPr lang="en-US" sz="1150" noProof="1" b="1">
                <a:solidFill>
                  <a:srgbClr val="27231F"/>
                </a:solidFill>
                <a:latin typeface="MiSans"/>
                <a:ea typeface="MiSans"/>
              </a:rPr>
              <a:t>COVID-19 疫情重叠</a:t>
            </a: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，入院模式、就医行为与患者构成可能改变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700"/>
              </a:spcBef>
            </a:pPr>
            <a:r>
              <a:rPr lang="en-US" sz="1150" noProof="1">
                <a:solidFill>
                  <a:srgbClr val="27231F"/>
                </a:solidFill>
                <a:latin typeface="MiSans"/>
                <a:ea typeface="MiSans"/>
              </a:rPr>
              <a:t>· 三时期分析：关键流程无一致性恶化、存活无显著差异，但间接影响不能排除</a:t>
            </a:r>
            <a:endParaRPr lang="en-US" sz="1150" noProof="1"/>
          </a:p>
        </p:txBody>
      </p:sp>
      <p:sp>
        <p:nvSpPr>
          <p:cNvPr id="13" name="v1"/>
          <p:cNvSpPr/>
          <p:nvPr/>
        </p:nvSpPr>
        <p:spPr>
          <a:xfrm>
            <a:off x="4191000" y="1460500"/>
            <a:ext cx="12700" cy="34290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14" name="v2"/>
          <p:cNvSpPr/>
          <p:nvPr/>
        </p:nvSpPr>
        <p:spPr>
          <a:xfrm>
            <a:off x="7874000" y="1460500"/>
            <a:ext cx="12700" cy="34290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15" name="crit-h"/>
          <p:cNvSpPr txBox="1"/>
          <p:nvPr/>
        </p:nvSpPr>
        <p:spPr>
          <a:xfrm>
            <a:off x="762000" y="533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4A3448"/>
                </a:solidFill>
                <a:latin typeface="MiSans"/>
                <a:ea typeface="MiSans"/>
              </a:rPr>
              <a:t>评阅人视角的补充思考</a:t>
            </a:r>
            <a:endParaRPr lang="en-US" sz="1200" noProof="1"/>
          </a:p>
        </p:txBody>
      </p:sp>
      <p:sp>
        <p:nvSpPr>
          <p:cNvPr id="16" name="crit"/>
          <p:cNvSpPr txBox="1"/>
          <p:nvPr/>
        </p:nvSpPr>
        <p:spPr>
          <a:xfrm>
            <a:off x="762000" y="56388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9B9489"/>
                </a:solidFill>
                <a:latin typeface="MiSans"/>
                <a:ea typeface="MiSans"/>
              </a:rPr>
              <a:t>· 发生率口径（仅接受 CPR 者）使跨国比较有偏：DNACPR 文化差异直接影响"是否尝试 CPR"的分母构成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9B9489"/>
                </a:solidFill>
                <a:latin typeface="MiSans"/>
                <a:ea typeface="MiSans"/>
              </a:rPr>
              <a:t>· 未报告院内旁观者按压质量、团队配置等 HIC 注册中的关键过程变量；神经预后评估方法（何时、由谁评定 CPC）细节有限</a:t>
            </a:r>
            <a:endParaRPr lang="en-US" sz="1100" noProof="1"/>
          </a:p>
        </p:txBody>
      </p:sp>
      <p:sp>
        <p:nvSpPr>
          <p:cNvPr id="17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资料来源：Wang C, et al. Circulation. 2026（局限性部分）；评阅人观点为汇报者补充。</a:t>
            </a:r>
            <a:endParaRPr lang="en-US" sz="85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04 · 讨论与启示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23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对我们 ICU 实践的启示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body"/>
          <p:cNvSpPr txBox="1"/>
          <p:nvPr/>
        </p:nvSpPr>
        <p:spPr>
          <a:xfrm>
            <a:off x="762000" y="1333500"/>
            <a:ext cx="10668000" cy="469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 b="1">
                <a:solidFill>
                  <a:srgbClr val="684765"/>
                </a:solidFill>
                <a:latin typeface="MiSans"/>
                <a:ea typeface="MiSans"/>
              </a:rPr>
              <a:t>① 补齐病房与 ICU 外骤停短板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：推动院内 RRT 建设（可参考 MEWS ≥5 分触发、片区 10 min 到达标准），保障除颤仪与急救车可及——本文中普通病房及时除颤率最低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684765"/>
                </a:solidFill>
                <a:latin typeface="MiSans"/>
                <a:ea typeface="MiSans"/>
              </a:rPr>
              <a:t>② 建立复苏后管理 bundle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：ROSC 后尽早 TTM（32–36 ℃、≥24 h、复温 0.25 ℃/h）、血流动力学目标 MAP ≥65 mmHg、氧合滴定 SpO₂ 90–98%、冠脉评估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684765"/>
                </a:solidFill>
                <a:latin typeface="MiSans"/>
                <a:ea typeface="MiSans"/>
              </a:rPr>
              <a:t>③ 病因导向的冠脉策略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：STEMI / 血流动力学不稳者 2 h 内 CAG；复苏后稳定的非 ST 段抬高者不再常规紧急造影（2025 AHA 更新）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684765"/>
                </a:solidFill>
                <a:latin typeface="MiSans"/>
                <a:ea typeface="MiSans"/>
              </a:rPr>
              <a:t>④ 把按压质量纳入质控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：CPR 反馈装置 + 持续 ETCO₂ 监测；对照复苏中心 20 项质控指标（按压分数、TTM 实施率、神经预后评估率等）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684765"/>
                </a:solidFill>
                <a:latin typeface="MiSans"/>
                <a:ea typeface="MiSans"/>
              </a:rPr>
              <a:t>⑤ 推动 DNACPR / ACP 文化建设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：终末期患者早期沟通、减少无效复苏；意愿不明时仍按常规 CPR</a:t>
            </a:r>
            <a:endParaRPr lang="en-US" sz="125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684765"/>
                </a:solidFill>
                <a:latin typeface="MiSans"/>
                <a:ea typeface="MiSans"/>
              </a:rPr>
              <a:t>⑥ 参与数据建设</a:t>
            </a:r>
            <a:r>
              <a:rPr lang="en-US" sz="1250" noProof="1">
                <a:solidFill>
                  <a:srgbClr val="27231F"/>
                </a:solidFill>
                <a:latin typeface="MiSans"/>
                <a:ea typeface="MiSans"/>
              </a:rPr>
              <a:t>：以 Utstein 模板建立科室内 IHCA 登记与质控闭环，让改进可测量</a:t>
            </a:r>
            <a:endParaRPr lang="en-US" sz="1250" noProof="1"/>
          </a:p>
        </p:txBody>
      </p:sp>
      <p:sp>
        <p:nvSpPr>
          <p:cNvPr id="8" name="source"/>
          <p:cNvSpPr txBox="1"/>
          <p:nvPr/>
        </p:nvSpPr>
        <p:spPr>
          <a:xfrm>
            <a:off x="762000" y="6502400"/>
            <a:ext cx="990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依据：Wang C, et al. Circulation. 2026 改进建议部分；2025 AHA 指南；复苏中心质控共识（知识库）。</a:t>
            </a:r>
            <a:endParaRPr lang="en-US" sz="85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279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9B9489"/>
                </a:solidFill>
                <a:latin typeface="MiSans"/>
                <a:ea typeface="MiSans"/>
              </a:rPr>
              <a:t>04 · 讨论与启示</a:t>
            </a:r>
            <a:endParaRPr lang="en-US" sz="1000" noProof="1"/>
          </a:p>
        </p:txBody>
      </p:sp>
      <p:sp>
        <p:nvSpPr>
          <p:cNvPr id="3" name="pagenum"/>
          <p:cNvSpPr txBox="1"/>
          <p:nvPr/>
        </p:nvSpPr>
        <p:spPr>
          <a:xfrm>
            <a:off x="10160000" y="2794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B9489"/>
                </a:solidFill>
                <a:latin typeface="MiSans"/>
                <a:ea typeface="MiSans"/>
              </a:rPr>
              <a:t>24 / 25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533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7231F"/>
                </a:solidFill>
                <a:latin typeface="MiSans"/>
                <a:ea typeface="MiSans"/>
              </a:rPr>
              <a:t>参考文献</a:t>
            </a:r>
            <a:endParaRPr lang="en-US" sz="2500" noProof="1"/>
          </a:p>
        </p:txBody>
      </p:sp>
      <p:sp>
        <p:nvSpPr>
          <p:cNvPr id="5" name="rule"/>
          <p:cNvSpPr/>
          <p:nvPr/>
        </p:nvSpPr>
        <p:spPr>
          <a:xfrm>
            <a:off x="762000" y="1066800"/>
            <a:ext cx="10668000" cy="127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6" name="tick"/>
          <p:cNvSpPr/>
          <p:nvPr/>
        </p:nvSpPr>
        <p:spPr>
          <a:xfrm>
            <a:off x="762000" y="1041400"/>
            <a:ext cx="609600" cy="38100"/>
          </a:xfrm>
          <a:prstGeom prst="rect">
            <a:avLst/>
          </a:prstGeom>
          <a:solidFill>
            <a:srgbClr val="684765"/>
          </a:solidFill>
          <a:ln>
            <a:noFill/>
          </a:ln>
        </p:spPr>
      </p:sp>
      <p:sp>
        <p:nvSpPr>
          <p:cNvPr id="7" name="refs-left"/>
          <p:cNvSpPr txBox="1"/>
          <p:nvPr/>
        </p:nvSpPr>
        <p:spPr>
          <a:xfrm>
            <a:off x="762000" y="1333500"/>
            <a:ext cx="5334000" cy="495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1. Wang C, Zheng J, Zheng W, Yang K, et al; BASIC-IHCA Coordinators and Investigators. Incidence, Process of Care, and Outcomes of In-Hospital Cardiac Arrest in China: A Multicenter Prospective Registry Study.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Circulation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2026;154. DOI:10.1161/CIRCULATIONAHA.126.080404.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2. Wang C, Zheng W, Zheng J, et al. A national effort to improve outcomes for in-hospital cardiac arrest in China: the BASIC-IHCA.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Resusc Plus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2022;11:100259.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3. Shao F, Li CS, Liang LR, et al. Incidence and outcome of adult in-hospital cardiac arrest in Beijing, China.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Resuscitation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2016;102:51-56.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4. Nolan JP, Soar J, Smith GB, et al. Incidence and outcome of in-hospital cardiac arrest in the United Kingdom National Cardiac Arrest Audit.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Resuscitation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2014;85:987-992.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5. Andersen LW, Holmberg MJ, Løfgren B, et al. Adult in-hospital cardiac arrest in Denmark.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Resuscitation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2019;140:31-36.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6. Jerkeman M, Sultanian P, Lundgren P, et al. Trends in survival after cardiac arrest: a Swedish nationwide study over 30 years.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Eur Heart J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2022;43:4817-4829.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7. Nolan JP, Berg RA, Andersen LW, et al. Update of the Utstein Resuscitation Registry Template for In-Hospital Cardiac Arrest.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Circulation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2019;140:e746-e757.</a:t>
            </a:r>
            <a:endParaRPr lang="en-US" sz="950" noProof="1"/>
          </a:p>
        </p:txBody>
      </p:sp>
      <p:sp>
        <p:nvSpPr>
          <p:cNvPr id="8" name="vline"/>
          <p:cNvSpPr/>
          <p:nvPr/>
        </p:nvSpPr>
        <p:spPr>
          <a:xfrm>
            <a:off x="6350000" y="1397000"/>
            <a:ext cx="12700" cy="4826000"/>
          </a:xfrm>
          <a:prstGeom prst="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9" name="refs-right"/>
          <p:cNvSpPr txBox="1"/>
          <p:nvPr/>
        </p:nvSpPr>
        <p:spPr>
          <a:xfrm>
            <a:off x="6604000" y="1333500"/>
            <a:ext cx="4826000" cy="495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8. Chan PS, Krumholz HM, Nichol G, Nallamothu BK. Delayed time to defibrillation after in-hospital cardiac arrest.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N Engl J Med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2008;358:9-17.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9. Donnino MW, Salciccioli JD, Howell MD, et al. Time to administration of epinephrine and outcome after in-hospital cardiac arrest with non-shockable rhythms.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BMJ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2014;348:g3028.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10. Wigginton JG, Agarwal S, Bartos JA, et al. Part 9: Adult Advanced Life Support: 2025 AHA Guidelines for CPR and ECC. </a:t>
            </a:r>
            <a:r>
              <a:rPr lang="en-US" sz="950" noProof="1" i="1">
                <a:solidFill>
                  <a:srgbClr val="27231F"/>
                </a:solidFill>
                <a:latin typeface="MiSans"/>
                <a:ea typeface="MiSans"/>
              </a:rPr>
              <a:t>Circulation</a:t>
            </a: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. 2025;152:S538-S577.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11. 中国老年心肺复苏急诊专家共识（知识库·医学指南共识库）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12. 复苏中心建设与管理急诊专家共识（知识库·医学指南共识库）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13. 成人院内体外心肺复苏临床实践流程专家共识（知识库·青禾重症）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14. 临床医学教材（第 10 版）麻醉学/神经外科学/急诊医学相关章节（知识库）</a:t>
            </a:r>
            <a:endParaRPr lang="en-US" sz="9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27231F"/>
                </a:solidFill>
                <a:latin typeface="MiSans"/>
                <a:ea typeface="MiSans"/>
              </a:rPr>
              <a:t>15. ERC/ESICM 体温控制指南 2021、ILCOR CoSTR 2025（知识库·青禾重症）</a:t>
            </a:r>
            <a:endParaRPr lang="en-US" sz="950" noProof="1"/>
          </a:p>
        </p:txBody>
      </p:sp>
      <p:sp>
        <p:nvSpPr>
          <p:cNvPr id="10" name="source"/>
          <p:cNvSpPr txBox="1"/>
          <p:nvPr/>
        </p:nvSpPr>
        <p:spPr>
          <a:xfrm>
            <a:off x="762000" y="6502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B9489"/>
                </a:solidFill>
                <a:latin typeface="MiSans"/>
                <a:ea typeface="MiSans"/>
              </a:rPr>
              <a:t>1–10 为原文引用文献（编号对应原文参考文献）；11–15 为知识库补充解析来源。</a:t>
            </a:r>
            <a:endParaRPr lang="en-US" sz="85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6847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cg-line"/>
          <p:cNvSpPr/>
          <p:nvPr>
            <p:extLst>
              <p:ext uri="{F5677B7D-0D2A-4D9B-9A5C-6D8D7D0E5A5D}">
                <pptd:line encoding="base64url">eyJ2aWV3Qm94IjpbODQwLDgwXSwicG9pbnRzIjoiMCw0MCAxODAsNDAgMjEwLDQwIDIyNCw4IDIzOCw3MiAyNTIsNDAgMzgwLDQwIDQxMCw0MCA0MjQsOCA0MzgsNzIgNDUyLDQwIDYwMCw0MCA2MzAsNDAgNjQ0LDggNjU4LDcyIDY3Miw0MCA4NDAsNDAiLCJjdXJ2ZSI6InNoYXJwIn0</pptd:line>
              </p:ext>
            </p:extLst>
          </p:nvPr>
        </p:nvSpPr>
        <p:spPr>
          <a:xfrm>
            <a:off x="762000" y="1524000"/>
            <a:ext cx="10668000" cy="1016000"/>
          </a:xfrm>
          <a:custGeom>
            <a:avLst/>
            <a:gdLst/>
            <a:ahLst/>
            <a:cxnLst/>
            <a:rect l="l" t="t" r="r" b="b"/>
            <a:pathLst>
              <a:path w="840" h="80">
                <a:moveTo>
                  <a:pt x="0" y="40"/>
                </a:moveTo>
                <a:lnTo>
                  <a:pt x="180" y="40"/>
                </a:lnTo>
                <a:lnTo>
                  <a:pt x="210" y="40"/>
                </a:lnTo>
                <a:lnTo>
                  <a:pt x="224" y="8"/>
                </a:lnTo>
                <a:lnTo>
                  <a:pt x="238" y="72"/>
                </a:lnTo>
                <a:lnTo>
                  <a:pt x="252" y="40"/>
                </a:lnTo>
                <a:lnTo>
                  <a:pt x="380" y="40"/>
                </a:lnTo>
                <a:lnTo>
                  <a:pt x="410" y="40"/>
                </a:lnTo>
                <a:lnTo>
                  <a:pt x="424" y="8"/>
                </a:lnTo>
                <a:lnTo>
                  <a:pt x="438" y="72"/>
                </a:lnTo>
                <a:lnTo>
                  <a:pt x="452" y="40"/>
                </a:lnTo>
                <a:lnTo>
                  <a:pt x="600" y="40"/>
                </a:lnTo>
                <a:lnTo>
                  <a:pt x="630" y="40"/>
                </a:lnTo>
                <a:lnTo>
                  <a:pt x="644" y="8"/>
                </a:lnTo>
                <a:lnTo>
                  <a:pt x="658" y="72"/>
                </a:lnTo>
                <a:lnTo>
                  <a:pt x="672" y="40"/>
                </a:lnTo>
                <a:lnTo>
                  <a:pt x="840" y="40"/>
                </a:lnTo>
              </a:path>
            </a:pathLst>
          </a:custGeom>
          <a:noFill/>
          <a:ln w="25400">
            <a:solidFill>
              <a:srgbClr val="F7F3E8">
                <a:alpha val="70196"/>
              </a:srgbClr>
            </a:solidFill>
          </a:ln>
        </p:spPr>
      </p:sp>
      <p:sp>
        <p:nvSpPr>
          <p:cNvPr id="3" name="thanks"/>
          <p:cNvSpPr txBox="1"/>
          <p:nvPr/>
        </p:nvSpPr>
        <p:spPr>
          <a:xfrm>
            <a:off x="762000" y="3175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200" noProof="1" b="1">
                <a:solidFill>
                  <a:srgbClr val="F7F3E8"/>
                </a:solidFill>
                <a:latin typeface="MiSans"/>
                <a:ea typeface="MiSans"/>
              </a:rPr>
              <a:t>谢谢聆听 · 欢迎讨论</a:t>
            </a:r>
            <a:endParaRPr lang="en-US" sz="4200" noProof="1"/>
          </a:p>
        </p:txBody>
      </p:sp>
      <p:sp>
        <p:nvSpPr>
          <p:cNvPr id="4" name="takeaway-rule"/>
          <p:cNvSpPr/>
          <p:nvPr/>
        </p:nvSpPr>
        <p:spPr>
          <a:xfrm>
            <a:off x="5461000" y="4318000"/>
            <a:ext cx="1270000" cy="38100"/>
          </a:xfrm>
          <a:prstGeom prst="rect">
            <a:avLst/>
          </a:prstGeom>
          <a:solidFill>
            <a:srgbClr val="C9828B"/>
          </a:solidFill>
          <a:ln>
            <a:noFill/>
          </a:ln>
        </p:spPr>
      </p:sp>
      <p:sp>
        <p:nvSpPr>
          <p:cNvPr id="5" name="takeaway"/>
          <p:cNvSpPr txBox="1"/>
          <p:nvPr/>
        </p:nvSpPr>
        <p:spPr>
          <a:xfrm>
            <a:off x="1651000" y="45720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500" noProof="1">
                <a:solidFill>
                  <a:srgbClr val="F7F3E8">
                    <a:alpha val="80000"/>
                  </a:srgbClr>
                </a:solidFill>
                <a:latin typeface="MiSans"/>
                <a:ea typeface="MiSans"/>
              </a:rPr>
              <a:t>复苏成功不止于 ROSC——</a:t>
            </a:r>
            <a:endParaRPr lang="en-US" sz="1500" noProof="1"/>
          </a:p>
          <a:p>
            <a:pPr algn="ctr">
              <a:lnSpc>
                <a:spcPct val="160000"/>
              </a:lnSpc>
            </a:pPr>
            <a:r>
              <a:rPr lang="en-US" sz="1500" noProof="1">
                <a:solidFill>
                  <a:srgbClr val="F7F3E8">
                    <a:alpha val="80000"/>
                  </a:srgbClr>
                </a:solidFill>
                <a:latin typeface="MiSans"/>
                <a:ea typeface="MiSans"/>
              </a:rPr>
              <a:t>结构化响应系统与复苏后重症救治体系，决定最终的生存与神经功能结局。</a:t>
            </a:r>
            <a:endParaRPr lang="en-US" sz="1500" noProof="1"/>
          </a:p>
        </p:txBody>
      </p:sp>
      <p:sp>
        <p:nvSpPr>
          <p:cNvPr id="6" name="meta"/>
          <p:cNvSpPr txBox="1"/>
          <p:nvPr/>
        </p:nvSpPr>
        <p:spPr>
          <a:xfrm>
            <a:off x="762000" y="60960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F7F3E8">
                    <a:alpha val="60000"/>
                  </a:srgbClr>
                </a:solidFill>
                <a:latin typeface="MiSans"/>
                <a:ea typeface="MiSans"/>
              </a:rPr>
              <a:t>Wang C, et al. Circulation. 2026 ｜ BASIC-IHCA 注册研究 ｜ 25 / 25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25</Slides>
</Properties>
</file>

<file path=docProps/core.xml><?xml version="1.0" encoding="utf-8"?>
<cp:coreProperties xmlns:dc="http://purl.org/dc/elements/1.1/" xmlns:cp="http://schemas.openxmlformats.org/package/2006/metadata/core-properties">
  <dc:title>basic-ihca-journal-club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